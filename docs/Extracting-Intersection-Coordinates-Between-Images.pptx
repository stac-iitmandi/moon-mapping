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gamma.app"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7" Type="http://schemas.openxmlformats.org/officeDocument/2006/relationships/hyperlink" Target="https://gamma.app"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5" Type="http://schemas.openxmlformats.org/officeDocument/2006/relationships/hyperlink" Target="https://gamma.app"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31267"/>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7620" y="0"/>
            <a:ext cx="5486400" cy="8231267"/>
          </a:xfrm>
          <a:prstGeom prst="rect">
            <a:avLst/>
          </a:prstGeom>
        </p:spPr>
      </p:pic>
      <p:sp>
        <p:nvSpPr>
          <p:cNvPr id="5" name="Text 1"/>
          <p:cNvSpPr/>
          <p:nvPr/>
        </p:nvSpPr>
        <p:spPr>
          <a:xfrm>
            <a:off x="6302216" y="598289"/>
            <a:ext cx="7512367" cy="4691063"/>
          </a:xfrm>
          <a:prstGeom prst="rect">
            <a:avLst/>
          </a:prstGeom>
          <a:noFill/>
          <a:ln/>
        </p:spPr>
        <p:txBody>
          <a:bodyPr wrap="square" rtlCol="0" anchor="t"/>
          <a:lstStyle/>
          <a:p>
            <a:pPr indent="0" marL="0">
              <a:lnSpc>
                <a:spcPts val="7388"/>
              </a:lnSpc>
              <a:buNone/>
            </a:pPr>
            <a:r>
              <a:rPr lang="en-US" sz="5910" dirty="0">
                <a:solidFill>
                  <a:srgbClr val="FFFFFF"/>
                </a:solidFill>
                <a:latin typeface="Unbounded" pitchFamily="34" charset="0"/>
                <a:ea typeface="Unbounded" pitchFamily="34" charset="-122"/>
                <a:cs typeface="Unbounded" pitchFamily="34" charset="-120"/>
              </a:rPr>
              <a:t>Extracting Intersection Coordinates Between Images</a:t>
            </a:r>
            <a:endParaRPr lang="en-US" sz="5910" dirty="0"/>
          </a:p>
        </p:txBody>
      </p:sp>
      <p:sp>
        <p:nvSpPr>
          <p:cNvPr id="6" name="Text 2"/>
          <p:cNvSpPr/>
          <p:nvPr/>
        </p:nvSpPr>
        <p:spPr>
          <a:xfrm>
            <a:off x="6302216" y="5615583"/>
            <a:ext cx="7512367" cy="1392079"/>
          </a:xfrm>
          <a:prstGeom prst="rect">
            <a:avLst/>
          </a:prstGeom>
          <a:noFill/>
          <a:ln/>
        </p:spPr>
        <p:txBody>
          <a:bodyPr wrap="square" rtlCol="0" anchor="t"/>
          <a:lstStyle/>
          <a:p>
            <a:pPr indent="0" marL="0">
              <a:lnSpc>
                <a:spcPts val="2741"/>
              </a:lnSpc>
              <a:buNone/>
            </a:pPr>
            <a:r>
              <a:rPr lang="en-US" sz="1713" dirty="0">
                <a:solidFill>
                  <a:srgbClr val="CAD6DE"/>
                </a:solidFill>
                <a:latin typeface="Cabin" pitchFamily="34" charset="0"/>
                <a:ea typeface="Cabin" pitchFamily="34" charset="-122"/>
                <a:cs typeface="Cabin" pitchFamily="34" charset="-120"/>
              </a:rPr>
              <a:t> We developed a novel method to extract the pixel coordinates of the geographical intersection between two images, OHRC and TMC2, based on their known intersection coordinates. This allows us to precisely cut out the common region of interest from the TMC2 image.</a:t>
            </a:r>
            <a:endParaRPr lang="en-US" sz="1713" dirty="0"/>
          </a:p>
        </p:txBody>
      </p:sp>
      <p:sp>
        <p:nvSpPr>
          <p:cNvPr id="7" name="Shape 3"/>
          <p:cNvSpPr/>
          <p:nvPr/>
        </p:nvSpPr>
        <p:spPr>
          <a:xfrm>
            <a:off x="6302216" y="7268647"/>
            <a:ext cx="348020" cy="348020"/>
          </a:xfrm>
          <a:prstGeom prst="roundRect">
            <a:avLst>
              <a:gd name="adj" fmla="val 26271725"/>
            </a:avLst>
          </a:prstGeom>
          <a:noFill/>
          <a:ln w="7620">
            <a:solidFill>
              <a:srgbClr val="FFFFFF"/>
            </a:solidFill>
            <a:prstDash val="solid"/>
          </a:ln>
        </p:spPr>
      </p:sp>
      <p:pic>
        <p:nvPicPr>
          <p:cNvPr id="8" name="Image 2" descr="preencoded.png">    </p:cNvPr>
          <p:cNvPicPr>
            <a:picLocks noChangeAspect="1"/>
          </p:cNvPicPr>
          <p:nvPr/>
        </p:nvPicPr>
        <p:blipFill>
          <a:blip r:embed="rId3"/>
          <a:stretch>
            <a:fillRect/>
          </a:stretch>
        </p:blipFill>
        <p:spPr>
          <a:xfrm>
            <a:off x="6309836" y="7276267"/>
            <a:ext cx="332780" cy="332780"/>
          </a:xfrm>
          <a:prstGeom prst="rect">
            <a:avLst/>
          </a:prstGeom>
        </p:spPr>
      </p:pic>
      <p:sp>
        <p:nvSpPr>
          <p:cNvPr id="9" name="Text 4"/>
          <p:cNvSpPr/>
          <p:nvPr/>
        </p:nvSpPr>
        <p:spPr>
          <a:xfrm>
            <a:off x="6758940" y="7252335"/>
            <a:ext cx="2039541" cy="380643"/>
          </a:xfrm>
          <a:prstGeom prst="rect">
            <a:avLst/>
          </a:prstGeom>
          <a:noFill/>
          <a:ln/>
        </p:spPr>
        <p:txBody>
          <a:bodyPr wrap="none" rtlCol="0" anchor="t"/>
          <a:lstStyle/>
          <a:p>
            <a:pPr algn="l" indent="0" marL="0">
              <a:lnSpc>
                <a:spcPts val="2998"/>
              </a:lnSpc>
              <a:buNone/>
            </a:pPr>
            <a:r>
              <a:rPr lang="en-US" sz="2141" b="1" dirty="0">
                <a:solidFill>
                  <a:srgbClr val="CAD6DE"/>
                </a:solidFill>
                <a:latin typeface="Cabin" pitchFamily="34" charset="0"/>
                <a:ea typeface="Cabin" pitchFamily="34" charset="-122"/>
                <a:cs typeface="Cabin" pitchFamily="34" charset="-120"/>
              </a:rPr>
              <a:t>by Ankur Rathore</a:t>
            </a:r>
            <a:endParaRPr lang="en-US" sz="2141" dirty="0"/>
          </a:p>
        </p:txBody>
      </p:sp>
      <p:pic>
        <p:nvPicPr>
          <p:cNvPr id="10" name="Image 3" descr="preencoded.png">
            <a:hlinkClick r:id="rId5" tooltip=""/>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30910"/>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10980420" y="0"/>
            <a:ext cx="3657600" cy="8230910"/>
          </a:xfrm>
          <a:prstGeom prst="rect">
            <a:avLst/>
          </a:prstGeom>
        </p:spPr>
      </p:pic>
      <p:sp>
        <p:nvSpPr>
          <p:cNvPr id="5" name="Text 1"/>
          <p:cNvSpPr/>
          <p:nvPr/>
        </p:nvSpPr>
        <p:spPr>
          <a:xfrm>
            <a:off x="1060490" y="544473"/>
            <a:ext cx="8851702" cy="1237298"/>
          </a:xfrm>
          <a:prstGeom prst="rect">
            <a:avLst/>
          </a:prstGeom>
          <a:noFill/>
          <a:ln/>
        </p:spPr>
        <p:txBody>
          <a:bodyPr wrap="square" rtlCol="0" anchor="t"/>
          <a:lstStyle/>
          <a:p>
            <a:pPr indent="0" marL="0">
              <a:lnSpc>
                <a:spcPts val="4872"/>
              </a:lnSpc>
              <a:buNone/>
            </a:pPr>
            <a:r>
              <a:rPr lang="en-US" sz="3898" dirty="0">
                <a:solidFill>
                  <a:srgbClr val="FFFFFF"/>
                </a:solidFill>
                <a:latin typeface="Unbounded" pitchFamily="34" charset="0"/>
                <a:ea typeface="Unbounded" pitchFamily="34" charset="-122"/>
                <a:cs typeface="Unbounded" pitchFamily="34" charset="-120"/>
              </a:rPr>
              <a:t>Algorithm for Intersection Extraction</a:t>
            </a:r>
            <a:endParaRPr lang="en-US" sz="3898" dirty="0"/>
          </a:p>
        </p:txBody>
      </p:sp>
      <p:pic>
        <p:nvPicPr>
          <p:cNvPr id="6" name="Image 2" descr="preencoded.png">    </p:cNvPr>
          <p:cNvPicPr>
            <a:picLocks noChangeAspect="1"/>
          </p:cNvPicPr>
          <p:nvPr/>
        </p:nvPicPr>
        <p:blipFill>
          <a:blip r:embed="rId3"/>
          <a:stretch>
            <a:fillRect/>
          </a:stretch>
        </p:blipFill>
        <p:spPr>
          <a:xfrm>
            <a:off x="1060490" y="2078712"/>
            <a:ext cx="989886" cy="1583888"/>
          </a:xfrm>
          <a:prstGeom prst="rect">
            <a:avLst/>
          </a:prstGeom>
        </p:spPr>
      </p:pic>
      <p:sp>
        <p:nvSpPr>
          <p:cNvPr id="7" name="Text 2"/>
          <p:cNvSpPr/>
          <p:nvPr/>
        </p:nvSpPr>
        <p:spPr>
          <a:xfrm>
            <a:off x="2347317" y="2276594"/>
            <a:ext cx="5000744" cy="309324"/>
          </a:xfrm>
          <a:prstGeom prst="rect">
            <a:avLst/>
          </a:prstGeom>
          <a:noFill/>
          <a:ln/>
        </p:spPr>
        <p:txBody>
          <a:bodyPr wrap="none" rtlCol="0" anchor="t"/>
          <a:lstStyle/>
          <a:p>
            <a:pPr algn="l" indent="0" marL="0">
              <a:lnSpc>
                <a:spcPts val="2436"/>
              </a:lnSpc>
              <a:buNone/>
            </a:pPr>
            <a:r>
              <a:rPr lang="en-US" sz="1949" dirty="0">
                <a:solidFill>
                  <a:srgbClr val="FFFFFF"/>
                </a:solidFill>
                <a:latin typeface="Unbounded" pitchFamily="34" charset="0"/>
                <a:ea typeface="Unbounded" pitchFamily="34" charset="-122"/>
                <a:cs typeface="Unbounded" pitchFamily="34" charset="-120"/>
              </a:rPr>
              <a:t>1. Obtain Intersection Coordinates</a:t>
            </a:r>
            <a:endParaRPr lang="en-US" sz="1949" dirty="0"/>
          </a:p>
        </p:txBody>
      </p:sp>
      <p:sp>
        <p:nvSpPr>
          <p:cNvPr id="8" name="Text 3"/>
          <p:cNvSpPr/>
          <p:nvPr/>
        </p:nvSpPr>
        <p:spPr>
          <a:xfrm>
            <a:off x="2347317" y="2704624"/>
            <a:ext cx="7564874" cy="633413"/>
          </a:xfrm>
          <a:prstGeom prst="rect">
            <a:avLst/>
          </a:prstGeom>
          <a:noFill/>
          <a:ln/>
        </p:spPr>
        <p:txBody>
          <a:bodyPr wrap="square" rtlCol="0" anchor="t"/>
          <a:lstStyle/>
          <a:p>
            <a:pPr algn="l" indent="0" marL="0">
              <a:lnSpc>
                <a:spcPts val="2494"/>
              </a:lnSpc>
              <a:buNone/>
            </a:pPr>
            <a:r>
              <a:rPr lang="en-US" sz="1559" dirty="0">
                <a:solidFill>
                  <a:srgbClr val="CAD6DE"/>
                </a:solidFill>
                <a:latin typeface="Cabin" pitchFamily="34" charset="0"/>
                <a:ea typeface="Cabin" pitchFamily="34" charset="-122"/>
                <a:cs typeface="Cabin" pitchFamily="34" charset="-120"/>
              </a:rPr>
              <a:t>Use the known geographical intersection coordinates between the OHRC and TMC2 images.</a:t>
            </a:r>
            <a:endParaRPr lang="en-US" sz="1559" dirty="0"/>
          </a:p>
        </p:txBody>
      </p:sp>
      <p:pic>
        <p:nvPicPr>
          <p:cNvPr id="9" name="Image 3" descr="preencoded.png">    </p:cNvPr>
          <p:cNvPicPr>
            <a:picLocks noChangeAspect="1"/>
          </p:cNvPicPr>
          <p:nvPr/>
        </p:nvPicPr>
        <p:blipFill>
          <a:blip r:embed="rId4"/>
          <a:stretch>
            <a:fillRect/>
          </a:stretch>
        </p:blipFill>
        <p:spPr>
          <a:xfrm>
            <a:off x="1060490" y="3662601"/>
            <a:ext cx="989886" cy="1583888"/>
          </a:xfrm>
          <a:prstGeom prst="rect">
            <a:avLst/>
          </a:prstGeom>
        </p:spPr>
      </p:pic>
      <p:sp>
        <p:nvSpPr>
          <p:cNvPr id="10" name="Text 4"/>
          <p:cNvSpPr/>
          <p:nvPr/>
        </p:nvSpPr>
        <p:spPr>
          <a:xfrm>
            <a:off x="2347317" y="3860483"/>
            <a:ext cx="4523423" cy="309324"/>
          </a:xfrm>
          <a:prstGeom prst="rect">
            <a:avLst/>
          </a:prstGeom>
          <a:noFill/>
          <a:ln/>
        </p:spPr>
        <p:txBody>
          <a:bodyPr wrap="none" rtlCol="0" anchor="t"/>
          <a:lstStyle/>
          <a:p>
            <a:pPr algn="l" indent="0" marL="0">
              <a:lnSpc>
                <a:spcPts val="2436"/>
              </a:lnSpc>
              <a:buNone/>
            </a:pPr>
            <a:r>
              <a:rPr lang="en-US" sz="1949" dirty="0">
                <a:solidFill>
                  <a:srgbClr val="FFFFFF"/>
                </a:solidFill>
                <a:latin typeface="Unbounded" pitchFamily="34" charset="0"/>
                <a:ea typeface="Unbounded" pitchFamily="34" charset="-122"/>
                <a:cs typeface="Unbounded" pitchFamily="34" charset="-120"/>
              </a:rPr>
              <a:t>2. Convert to Pixel Coordinates</a:t>
            </a:r>
            <a:endParaRPr lang="en-US" sz="1949" dirty="0"/>
          </a:p>
        </p:txBody>
      </p:sp>
      <p:sp>
        <p:nvSpPr>
          <p:cNvPr id="11" name="Text 5"/>
          <p:cNvSpPr/>
          <p:nvPr/>
        </p:nvSpPr>
        <p:spPr>
          <a:xfrm>
            <a:off x="2347317" y="4288512"/>
            <a:ext cx="7564874" cy="633413"/>
          </a:xfrm>
          <a:prstGeom prst="rect">
            <a:avLst/>
          </a:prstGeom>
          <a:noFill/>
          <a:ln/>
        </p:spPr>
        <p:txBody>
          <a:bodyPr wrap="square" rtlCol="0" anchor="t"/>
          <a:lstStyle/>
          <a:p>
            <a:pPr algn="l" indent="0" marL="0">
              <a:lnSpc>
                <a:spcPts val="2494"/>
              </a:lnSpc>
              <a:buNone/>
            </a:pPr>
            <a:r>
              <a:rPr lang="en-US" sz="1559" dirty="0">
                <a:solidFill>
                  <a:srgbClr val="CAD6DE"/>
                </a:solidFill>
                <a:latin typeface="Cabin" pitchFamily="34" charset="0"/>
                <a:ea typeface="Cabin" pitchFamily="34" charset="-122"/>
                <a:cs typeface="Cabin" pitchFamily="34" charset="-120"/>
              </a:rPr>
              <a:t>Develop a mathematical model to convert the geographical coordinates to pixel locations in each image.</a:t>
            </a:r>
            <a:endParaRPr lang="en-US" sz="1559" dirty="0"/>
          </a:p>
        </p:txBody>
      </p:sp>
      <p:pic>
        <p:nvPicPr>
          <p:cNvPr id="12" name="Image 4" descr="preencoded.png">    </p:cNvPr>
          <p:cNvPicPr>
            <a:picLocks noChangeAspect="1"/>
          </p:cNvPicPr>
          <p:nvPr/>
        </p:nvPicPr>
        <p:blipFill>
          <a:blip r:embed="rId5"/>
          <a:stretch>
            <a:fillRect/>
          </a:stretch>
        </p:blipFill>
        <p:spPr>
          <a:xfrm>
            <a:off x="1060490" y="5246489"/>
            <a:ext cx="989886" cy="1583888"/>
          </a:xfrm>
          <a:prstGeom prst="rect">
            <a:avLst/>
          </a:prstGeom>
        </p:spPr>
      </p:pic>
      <p:sp>
        <p:nvSpPr>
          <p:cNvPr id="13" name="Text 6"/>
          <p:cNvSpPr/>
          <p:nvPr/>
        </p:nvSpPr>
        <p:spPr>
          <a:xfrm>
            <a:off x="2347317" y="5444371"/>
            <a:ext cx="4353997" cy="309324"/>
          </a:xfrm>
          <a:prstGeom prst="rect">
            <a:avLst/>
          </a:prstGeom>
          <a:noFill/>
          <a:ln/>
        </p:spPr>
        <p:txBody>
          <a:bodyPr wrap="none" rtlCol="0" anchor="t"/>
          <a:lstStyle/>
          <a:p>
            <a:pPr algn="l" indent="0" marL="0">
              <a:lnSpc>
                <a:spcPts val="2436"/>
              </a:lnSpc>
              <a:buNone/>
            </a:pPr>
            <a:r>
              <a:rPr lang="en-US" sz="1949" dirty="0">
                <a:solidFill>
                  <a:srgbClr val="FFFFFF"/>
                </a:solidFill>
                <a:latin typeface="Unbounded" pitchFamily="34" charset="0"/>
                <a:ea typeface="Unbounded" pitchFamily="34" charset="-122"/>
                <a:cs typeface="Unbounded" pitchFamily="34" charset="-120"/>
              </a:rPr>
              <a:t>3. Extract Intersection Region</a:t>
            </a:r>
            <a:endParaRPr lang="en-US" sz="1949" dirty="0"/>
          </a:p>
        </p:txBody>
      </p:sp>
      <p:sp>
        <p:nvSpPr>
          <p:cNvPr id="14" name="Text 7"/>
          <p:cNvSpPr/>
          <p:nvPr/>
        </p:nvSpPr>
        <p:spPr>
          <a:xfrm>
            <a:off x="2347317" y="5872401"/>
            <a:ext cx="7564874" cy="633413"/>
          </a:xfrm>
          <a:prstGeom prst="rect">
            <a:avLst/>
          </a:prstGeom>
          <a:noFill/>
          <a:ln/>
        </p:spPr>
        <p:txBody>
          <a:bodyPr wrap="square" rtlCol="0" anchor="t"/>
          <a:lstStyle/>
          <a:p>
            <a:pPr algn="l" indent="0" marL="0">
              <a:lnSpc>
                <a:spcPts val="2494"/>
              </a:lnSpc>
              <a:buNone/>
            </a:pPr>
            <a:r>
              <a:rPr lang="en-US" sz="1559" dirty="0">
                <a:solidFill>
                  <a:srgbClr val="CAD6DE"/>
                </a:solidFill>
                <a:latin typeface="Cabin" pitchFamily="34" charset="0"/>
                <a:ea typeface="Cabin" pitchFamily="34" charset="-122"/>
                <a:cs typeface="Cabin" pitchFamily="34" charset="-120"/>
              </a:rPr>
              <a:t>Use the computed pixel coordinates to precisely crop the common region of interest from the TMC2 image.</a:t>
            </a:r>
            <a:endParaRPr lang="en-US" sz="1559" dirty="0"/>
          </a:p>
        </p:txBody>
      </p:sp>
      <p:sp>
        <p:nvSpPr>
          <p:cNvPr id="15" name="Text 8"/>
          <p:cNvSpPr/>
          <p:nvPr/>
        </p:nvSpPr>
        <p:spPr>
          <a:xfrm>
            <a:off x="1060490" y="7053024"/>
            <a:ext cx="8851702" cy="633413"/>
          </a:xfrm>
          <a:prstGeom prst="rect">
            <a:avLst/>
          </a:prstGeom>
          <a:noFill/>
          <a:ln/>
        </p:spPr>
        <p:txBody>
          <a:bodyPr wrap="square" rtlCol="0" anchor="t"/>
          <a:lstStyle/>
          <a:p>
            <a:pPr indent="0" marL="0">
              <a:lnSpc>
                <a:spcPts val="2494"/>
              </a:lnSpc>
              <a:buNone/>
            </a:pPr>
            <a:r>
              <a:rPr lang="en-US" sz="1559" dirty="0">
                <a:solidFill>
                  <a:srgbClr val="CAD6DE"/>
                </a:solidFill>
                <a:latin typeface="Cabin" pitchFamily="34" charset="0"/>
                <a:ea typeface="Cabin" pitchFamily="34" charset="-122"/>
                <a:cs typeface="Cabin" pitchFamily="34" charset="-120"/>
              </a:rPr>
              <a:t> This algorithm allows us to accurately isolate the shared area between the two images, enabling further analysis and processing.</a:t>
            </a:r>
            <a:endParaRPr lang="en-US" sz="1559" dirty="0"/>
          </a:p>
        </p:txBody>
      </p:sp>
      <p:pic>
        <p:nvPicPr>
          <p:cNvPr id="16" name="Image 5" descr="preencoded.png">
            <a:hlinkClick r:id="rId7" tooltip=""/>
          </p:cNvPr>
          <p:cNvPicPr>
            <a:picLocks noChangeAspect="1"/>
          </p:cNvPicPr>
          <p:nvPr/>
        </p:nvPicPr>
        <p:blipFill>
          <a:blip r:embed="rId6"/>
          <a:stretch>
            <a:fillRect/>
          </a:stretch>
        </p:blipFill>
        <p:spPr>
          <a:xfrm>
            <a:off x="12242153" y="7589520"/>
            <a:ext cx="2296807"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4" name="Text 1"/>
          <p:cNvSpPr/>
          <p:nvPr/>
        </p:nvSpPr>
        <p:spPr>
          <a:xfrm>
            <a:off x="2681645" y="1036201"/>
            <a:ext cx="6641306" cy="694373"/>
          </a:xfrm>
          <a:prstGeom prst="rect">
            <a:avLst/>
          </a:prstGeom>
          <a:noFill/>
          <a:ln/>
        </p:spPr>
        <p:txBody>
          <a:bodyPr wrap="none" rtlCol="0" anchor="t"/>
          <a:lstStyle/>
          <a:p>
            <a:pPr indent="0" marL="0">
              <a:lnSpc>
                <a:spcPts val="5468"/>
              </a:lnSpc>
              <a:buNone/>
            </a:pPr>
            <a:r>
              <a:rPr lang="en-US" sz="4374" dirty="0">
                <a:solidFill>
                  <a:srgbClr val="FFFFFF"/>
                </a:solidFill>
                <a:latin typeface="Unbounded" pitchFamily="34" charset="0"/>
                <a:ea typeface="Unbounded" pitchFamily="34" charset="-122"/>
                <a:cs typeface="Unbounded" pitchFamily="34" charset="-120"/>
              </a:rPr>
              <a:t>Algorithm Explained</a:t>
            </a:r>
            <a:endParaRPr lang="en-US" sz="4374" dirty="0"/>
          </a:p>
        </p:txBody>
      </p:sp>
      <p:sp>
        <p:nvSpPr>
          <p:cNvPr id="5" name="Shape 2"/>
          <p:cNvSpPr/>
          <p:nvPr/>
        </p:nvSpPr>
        <p:spPr>
          <a:xfrm>
            <a:off x="2348389" y="702945"/>
            <a:ext cx="27742" cy="1360884"/>
          </a:xfrm>
          <a:prstGeom prst="rect">
            <a:avLst/>
          </a:prstGeom>
          <a:solidFill>
            <a:srgbClr val="0A988B"/>
          </a:solidFill>
          <a:ln/>
        </p:spPr>
      </p:sp>
      <p:pic>
        <p:nvPicPr>
          <p:cNvPr id="6" name="Image 1" descr="preencoded.png">    </p:cNvPr>
          <p:cNvPicPr>
            <a:picLocks noChangeAspect="1"/>
          </p:cNvPicPr>
          <p:nvPr/>
        </p:nvPicPr>
        <p:blipFill>
          <a:blip r:embed="rId2"/>
          <a:stretch>
            <a:fillRect/>
          </a:stretch>
        </p:blipFill>
        <p:spPr>
          <a:xfrm>
            <a:off x="2378869" y="2456855"/>
            <a:ext cx="5451515" cy="3110746"/>
          </a:xfrm>
          <a:prstGeom prst="rect">
            <a:avLst/>
          </a:prstGeom>
        </p:spPr>
      </p:pic>
      <p:pic>
        <p:nvPicPr>
          <p:cNvPr id="7" name="Image 2" descr="preencoded.png">    </p:cNvPr>
          <p:cNvPicPr>
            <a:picLocks noChangeAspect="1"/>
          </p:cNvPicPr>
          <p:nvPr/>
        </p:nvPicPr>
        <p:blipFill>
          <a:blip r:embed="rId3"/>
          <a:stretch>
            <a:fillRect/>
          </a:stretch>
        </p:blipFill>
        <p:spPr>
          <a:xfrm>
            <a:off x="8008025" y="2456855"/>
            <a:ext cx="4058007" cy="3110746"/>
          </a:xfrm>
          <a:prstGeom prst="rect">
            <a:avLst/>
          </a:prstGeom>
        </p:spPr>
      </p:pic>
      <p:sp>
        <p:nvSpPr>
          <p:cNvPr id="8" name="Text 3"/>
          <p:cNvSpPr/>
          <p:nvPr/>
        </p:nvSpPr>
        <p:spPr>
          <a:xfrm>
            <a:off x="2681645" y="6210538"/>
            <a:ext cx="9600248" cy="1066205"/>
          </a:xfrm>
          <a:prstGeom prst="rect">
            <a:avLst/>
          </a:prstGeom>
          <a:noFill/>
          <a:ln/>
        </p:spPr>
        <p:txBody>
          <a:bodyPr wrap="square" rtlCol="0" anchor="t"/>
          <a:lstStyle/>
          <a:p>
            <a:pPr indent="0" marL="0">
              <a:lnSpc>
                <a:spcPts val="2799"/>
              </a:lnSpc>
              <a:buNone/>
            </a:pPr>
            <a:r>
              <a:rPr lang="en-US" sz="1750" dirty="0">
                <a:solidFill>
                  <a:srgbClr val="CAD6DE"/>
                </a:solidFill>
                <a:latin typeface="Cabin" pitchFamily="34" charset="0"/>
                <a:ea typeface="Cabin" pitchFamily="34" charset="-122"/>
                <a:cs typeface="Cabin" pitchFamily="34" charset="-120"/>
              </a:rPr>
              <a:t>The mathematical model uses reflection geometry on lunar geodesics to calculate the coordinates of the query within the image and then use conversion factors to convert the geographical coordinates into pixel coordinates.</a:t>
            </a:r>
            <a:endParaRPr lang="en-US" sz="1750" dirty="0"/>
          </a:p>
        </p:txBody>
      </p:sp>
      <p:sp>
        <p:nvSpPr>
          <p:cNvPr id="9" name="Shape 4"/>
          <p:cNvSpPr/>
          <p:nvPr/>
        </p:nvSpPr>
        <p:spPr>
          <a:xfrm>
            <a:off x="2348389" y="5960626"/>
            <a:ext cx="27742" cy="1566029"/>
          </a:xfrm>
          <a:prstGeom prst="rect">
            <a:avLst/>
          </a:prstGeom>
          <a:solidFill>
            <a:srgbClr val="0A988B"/>
          </a:solidFill>
          <a:ln/>
        </p:spPr>
      </p:sp>
      <p:pic>
        <p:nvPicPr>
          <p:cNvPr id="10" name="Image 3" descr="preencoded.png">
            <a:hlinkClick r:id="rId5" tooltip=""/>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2024-05-06T08:16:36Z</dcterms:created>
  <dcterms:modified xsi:type="dcterms:W3CDTF">2024-05-06T08:16:36Z</dcterms:modified>
</cp:coreProperties>
</file>