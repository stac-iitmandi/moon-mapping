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1" d="100"/>
          <a:sy n="71"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3246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hyperlink" Target="https://gamma.app"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gamma.app"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https://gamma.app"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gamma.app" TargetMode="Externa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hyperlink" Target="https://gamma.app"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hyperlink" Target="https://gamma.app"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gamma.app"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hyperlink" Target="https://gamma.app"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txBody>
          <a:bodyPr/>
          <a:lstStyle/>
          <a:p>
            <a:endParaRPr lang="en-US" dirty="0"/>
          </a:p>
        </p:txBody>
      </p:sp>
      <p:pic>
        <p:nvPicPr>
          <p:cNvPr id="4" name="Image 0" descr="preencoded.png"/>
          <p:cNvPicPr>
            <a:picLocks noChangeAspect="1"/>
          </p:cNvPicPr>
          <p:nvPr/>
        </p:nvPicPr>
        <p:blipFill>
          <a:blip r:embed="rId3"/>
          <a:stretch>
            <a:fillRect/>
          </a:stretch>
        </p:blipFill>
        <p:spPr>
          <a:xfrm>
            <a:off x="9151620" y="0"/>
            <a:ext cx="5486400" cy="8229600"/>
          </a:xfrm>
          <a:prstGeom prst="rect">
            <a:avLst/>
          </a:prstGeom>
        </p:spPr>
      </p:pic>
      <p:sp>
        <p:nvSpPr>
          <p:cNvPr id="5" name="Text 2"/>
          <p:cNvSpPr/>
          <p:nvPr/>
        </p:nvSpPr>
        <p:spPr>
          <a:xfrm>
            <a:off x="833199" y="1480661"/>
            <a:ext cx="7477601" cy="2874645"/>
          </a:xfrm>
          <a:prstGeom prst="rect">
            <a:avLst/>
          </a:prstGeom>
          <a:noFill/>
          <a:ln/>
        </p:spPr>
        <p:txBody>
          <a:bodyPr wrap="square" rtlCol="0" anchor="t"/>
          <a:lstStyle/>
          <a:p>
            <a:pPr marL="0" indent="0">
              <a:lnSpc>
                <a:spcPts val="7545"/>
              </a:lnSpc>
              <a:buNone/>
            </a:pPr>
            <a:r>
              <a:rPr lang="en-US" sz="6036" b="1" dirty="0">
                <a:solidFill>
                  <a:srgbClr val="EDEDE8"/>
                </a:solidFill>
                <a:latin typeface="Tomorrow" pitchFamily="34" charset="0"/>
                <a:ea typeface="Tomorrow" pitchFamily="34" charset="-122"/>
                <a:cs typeface="Tomorrow" pitchFamily="34" charset="-120"/>
              </a:rPr>
              <a:t>Introduction to SWIN Transformers</a:t>
            </a:r>
            <a:endParaRPr lang="en-US" sz="6036" dirty="0"/>
          </a:p>
        </p:txBody>
      </p:sp>
      <p:sp>
        <p:nvSpPr>
          <p:cNvPr id="6" name="Text 3"/>
          <p:cNvSpPr/>
          <p:nvPr/>
        </p:nvSpPr>
        <p:spPr>
          <a:xfrm>
            <a:off x="833199" y="4688562"/>
            <a:ext cx="7477601" cy="1421606"/>
          </a:xfrm>
          <a:prstGeom prst="rect">
            <a:avLst/>
          </a:prstGeom>
          <a:noFill/>
          <a:ln/>
        </p:spPr>
        <p:txBody>
          <a:bodyPr wrap="square" rtlCol="0" anchor="t"/>
          <a:lstStyle/>
          <a:p>
            <a:pPr marL="0" indent="0">
              <a:lnSpc>
                <a:spcPts val="2799"/>
              </a:lnSpc>
              <a:buNone/>
            </a:pPr>
            <a:r>
              <a:rPr lang="en-US" sz="1750" dirty="0">
                <a:solidFill>
                  <a:srgbClr val="C9C9C0"/>
                </a:solidFill>
                <a:latin typeface="Tomorrow" pitchFamily="34" charset="0"/>
                <a:ea typeface="Tomorrow" pitchFamily="34" charset="-122"/>
                <a:cs typeface="Tomorrow" pitchFamily="34" charset="-120"/>
              </a:rPr>
              <a:t>SWIN Transformers are a powerful deep learning model that have revolutionized image recognition and reconstruction tasks. They leverage the strengths of both convolutional neural networks and transformers to capture both local and global image features.</a:t>
            </a:r>
            <a:endParaRPr lang="en-US" sz="1750" dirty="0"/>
          </a:p>
        </p:txBody>
      </p:sp>
      <p:sp>
        <p:nvSpPr>
          <p:cNvPr id="7" name="Shape 4"/>
          <p:cNvSpPr/>
          <p:nvPr/>
        </p:nvSpPr>
        <p:spPr>
          <a:xfrm>
            <a:off x="833199" y="6376749"/>
            <a:ext cx="355402" cy="355402"/>
          </a:xfrm>
          <a:prstGeom prst="roundRect">
            <a:avLst>
              <a:gd name="adj" fmla="val 25726039"/>
            </a:avLst>
          </a:prstGeom>
          <a:noFill/>
          <a:ln w="7620">
            <a:solidFill>
              <a:srgbClr val="FFFFFF"/>
            </a:solidFill>
            <a:prstDash val="solid"/>
          </a:ln>
        </p:spPr>
      </p:sp>
      <p:pic>
        <p:nvPicPr>
          <p:cNvPr id="10" name="Image 2" descr="preencoded.png">
            <a:hlinkClick r:id="rId4"/>
          </p:cNvPr>
          <p:cNvPicPr>
            <a:picLocks noChangeAspect="1"/>
          </p:cNvPicPr>
          <p:nvPr/>
        </p:nvPicPr>
        <p:blipFill>
          <a:blip r:embed="rId5"/>
          <a:stretch>
            <a:fillRect/>
          </a:stretch>
        </p:blipFill>
        <p:spPr>
          <a:xfrm>
            <a:off x="12242153" y="7589520"/>
            <a:ext cx="2296807"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
        <p:nvSpPr>
          <p:cNvPr id="4" name="Text 2"/>
          <p:cNvSpPr/>
          <p:nvPr/>
        </p:nvSpPr>
        <p:spPr>
          <a:xfrm>
            <a:off x="2037993" y="2216706"/>
            <a:ext cx="9795510" cy="694373"/>
          </a:xfrm>
          <a:prstGeom prst="rect">
            <a:avLst/>
          </a:prstGeom>
          <a:noFill/>
          <a:ln/>
        </p:spPr>
        <p:txBody>
          <a:bodyPr wrap="none" rtlCol="0" anchor="t"/>
          <a:lstStyle/>
          <a:p>
            <a:pPr marL="0" indent="0">
              <a:lnSpc>
                <a:spcPts val="5468"/>
              </a:lnSpc>
              <a:buNone/>
            </a:pPr>
            <a:r>
              <a:rPr lang="en-US" sz="4374" b="1" dirty="0">
                <a:solidFill>
                  <a:srgbClr val="EDEDE8"/>
                </a:solidFill>
                <a:latin typeface="Tomorrow" pitchFamily="34" charset="0"/>
                <a:ea typeface="Tomorrow" pitchFamily="34" charset="-122"/>
                <a:cs typeface="Tomorrow" pitchFamily="34" charset="-120"/>
              </a:rPr>
              <a:t>Architecture of SWIN Transformers</a:t>
            </a:r>
            <a:endParaRPr lang="en-US" sz="4374" dirty="0"/>
          </a:p>
        </p:txBody>
      </p:sp>
      <p:sp>
        <p:nvSpPr>
          <p:cNvPr id="5" name="Text 3"/>
          <p:cNvSpPr/>
          <p:nvPr/>
        </p:nvSpPr>
        <p:spPr>
          <a:xfrm>
            <a:off x="2037993" y="3466505"/>
            <a:ext cx="3091696" cy="347186"/>
          </a:xfrm>
          <a:prstGeom prst="rect">
            <a:avLst/>
          </a:prstGeom>
          <a:noFill/>
          <a:ln/>
        </p:spPr>
        <p:txBody>
          <a:bodyPr wrap="none" rtlCol="0" anchor="t"/>
          <a:lstStyle/>
          <a:p>
            <a:pPr marL="0" indent="0">
              <a:lnSpc>
                <a:spcPts val="2734"/>
              </a:lnSpc>
              <a:buNone/>
            </a:pPr>
            <a:r>
              <a:rPr lang="en-US" sz="2187" b="1" dirty="0">
                <a:solidFill>
                  <a:srgbClr val="EDEDE8"/>
                </a:solidFill>
                <a:latin typeface="Tomorrow" pitchFamily="34" charset="0"/>
                <a:ea typeface="Tomorrow" pitchFamily="34" charset="-122"/>
                <a:cs typeface="Tomorrow" pitchFamily="34" charset="-120"/>
              </a:rPr>
              <a:t>Hierarchical Structure</a:t>
            </a:r>
            <a:endParaRPr lang="en-US" sz="2187" dirty="0"/>
          </a:p>
        </p:txBody>
      </p:sp>
      <p:sp>
        <p:nvSpPr>
          <p:cNvPr id="6" name="Text 4"/>
          <p:cNvSpPr/>
          <p:nvPr/>
        </p:nvSpPr>
        <p:spPr>
          <a:xfrm>
            <a:off x="2037993" y="4035862"/>
            <a:ext cx="3156347" cy="1777008"/>
          </a:xfrm>
          <a:prstGeom prst="rect">
            <a:avLst/>
          </a:prstGeom>
          <a:noFill/>
          <a:ln/>
        </p:spPr>
        <p:txBody>
          <a:bodyPr wrap="square" rtlCol="0" anchor="t"/>
          <a:lstStyle/>
          <a:p>
            <a:pPr marL="0" indent="0">
              <a:lnSpc>
                <a:spcPts val="2799"/>
              </a:lnSpc>
              <a:buNone/>
            </a:pPr>
            <a:r>
              <a:rPr lang="en-US" sz="1750" dirty="0">
                <a:solidFill>
                  <a:srgbClr val="C9C9C0"/>
                </a:solidFill>
                <a:latin typeface="Tomorrow" pitchFamily="34" charset="0"/>
                <a:ea typeface="Tomorrow" pitchFamily="34" charset="-122"/>
                <a:cs typeface="Tomorrow" pitchFamily="34" charset="-120"/>
              </a:rPr>
              <a:t>SWIN Transformers have a multi-scale hierarchical design, allowing them to efficiently process images of varying resolutions.</a:t>
            </a:r>
            <a:endParaRPr lang="en-US" sz="1750" dirty="0"/>
          </a:p>
        </p:txBody>
      </p:sp>
      <p:sp>
        <p:nvSpPr>
          <p:cNvPr id="7" name="Text 5"/>
          <p:cNvSpPr/>
          <p:nvPr/>
        </p:nvSpPr>
        <p:spPr>
          <a:xfrm>
            <a:off x="5743932" y="3466505"/>
            <a:ext cx="2777490" cy="347186"/>
          </a:xfrm>
          <a:prstGeom prst="rect">
            <a:avLst/>
          </a:prstGeom>
          <a:noFill/>
          <a:ln/>
        </p:spPr>
        <p:txBody>
          <a:bodyPr wrap="none" rtlCol="0" anchor="t"/>
          <a:lstStyle/>
          <a:p>
            <a:pPr marL="0" indent="0">
              <a:lnSpc>
                <a:spcPts val="2734"/>
              </a:lnSpc>
              <a:buNone/>
            </a:pPr>
            <a:r>
              <a:rPr lang="en-US" sz="2187" b="1" dirty="0">
                <a:solidFill>
                  <a:srgbClr val="EDEDE8"/>
                </a:solidFill>
                <a:latin typeface="Tomorrow" pitchFamily="34" charset="0"/>
                <a:ea typeface="Tomorrow" pitchFamily="34" charset="-122"/>
                <a:cs typeface="Tomorrow" pitchFamily="34" charset="-120"/>
              </a:rPr>
              <a:t>Shifted Windows</a:t>
            </a:r>
            <a:endParaRPr lang="en-US" sz="2187" dirty="0"/>
          </a:p>
        </p:txBody>
      </p:sp>
      <p:sp>
        <p:nvSpPr>
          <p:cNvPr id="8" name="Text 6"/>
          <p:cNvSpPr/>
          <p:nvPr/>
        </p:nvSpPr>
        <p:spPr>
          <a:xfrm>
            <a:off x="5743932" y="4035862"/>
            <a:ext cx="3156347" cy="1421606"/>
          </a:xfrm>
          <a:prstGeom prst="rect">
            <a:avLst/>
          </a:prstGeom>
          <a:noFill/>
          <a:ln/>
        </p:spPr>
        <p:txBody>
          <a:bodyPr wrap="square" rtlCol="0" anchor="t"/>
          <a:lstStyle/>
          <a:p>
            <a:pPr marL="0" indent="0">
              <a:lnSpc>
                <a:spcPts val="2799"/>
              </a:lnSpc>
              <a:buNone/>
            </a:pPr>
            <a:r>
              <a:rPr lang="en-US" sz="1750" dirty="0">
                <a:solidFill>
                  <a:srgbClr val="C9C9C0"/>
                </a:solidFill>
                <a:latin typeface="Tomorrow" pitchFamily="34" charset="0"/>
                <a:ea typeface="Tomorrow" pitchFamily="34" charset="-122"/>
                <a:cs typeface="Tomorrow" pitchFamily="34" charset="-120"/>
              </a:rPr>
              <a:t>The model uses a shifted window approach to capture both local and global contextual information.</a:t>
            </a:r>
            <a:endParaRPr lang="en-US" sz="1750" dirty="0"/>
          </a:p>
        </p:txBody>
      </p:sp>
      <p:sp>
        <p:nvSpPr>
          <p:cNvPr id="9" name="Text 7"/>
          <p:cNvSpPr/>
          <p:nvPr/>
        </p:nvSpPr>
        <p:spPr>
          <a:xfrm>
            <a:off x="9449872" y="3466505"/>
            <a:ext cx="2777490" cy="347186"/>
          </a:xfrm>
          <a:prstGeom prst="rect">
            <a:avLst/>
          </a:prstGeom>
          <a:noFill/>
          <a:ln/>
        </p:spPr>
        <p:txBody>
          <a:bodyPr wrap="none" rtlCol="0" anchor="t"/>
          <a:lstStyle/>
          <a:p>
            <a:pPr marL="0" indent="0">
              <a:lnSpc>
                <a:spcPts val="2734"/>
              </a:lnSpc>
              <a:buNone/>
            </a:pPr>
            <a:r>
              <a:rPr lang="en-US" sz="2187" b="1" dirty="0">
                <a:solidFill>
                  <a:srgbClr val="EDEDE8"/>
                </a:solidFill>
                <a:latin typeface="Tomorrow" pitchFamily="34" charset="0"/>
                <a:ea typeface="Tomorrow" pitchFamily="34" charset="-122"/>
                <a:cs typeface="Tomorrow" pitchFamily="34" charset="-120"/>
              </a:rPr>
              <a:t>Self-Attention</a:t>
            </a:r>
            <a:endParaRPr lang="en-US" sz="2187" dirty="0"/>
          </a:p>
        </p:txBody>
      </p:sp>
      <p:sp>
        <p:nvSpPr>
          <p:cNvPr id="10" name="Text 8"/>
          <p:cNvSpPr/>
          <p:nvPr/>
        </p:nvSpPr>
        <p:spPr>
          <a:xfrm>
            <a:off x="9449872" y="4035862"/>
            <a:ext cx="3156347" cy="1421606"/>
          </a:xfrm>
          <a:prstGeom prst="rect">
            <a:avLst/>
          </a:prstGeom>
          <a:noFill/>
          <a:ln/>
        </p:spPr>
        <p:txBody>
          <a:bodyPr wrap="square" rtlCol="0" anchor="t"/>
          <a:lstStyle/>
          <a:p>
            <a:pPr marL="0" indent="0">
              <a:lnSpc>
                <a:spcPts val="2799"/>
              </a:lnSpc>
              <a:buNone/>
            </a:pPr>
            <a:r>
              <a:rPr lang="en-US" sz="1750" dirty="0">
                <a:solidFill>
                  <a:srgbClr val="C9C9C0"/>
                </a:solidFill>
                <a:latin typeface="Tomorrow" pitchFamily="34" charset="0"/>
                <a:ea typeface="Tomorrow" pitchFamily="34" charset="-122"/>
                <a:cs typeface="Tomorrow" pitchFamily="34" charset="-120"/>
              </a:rPr>
              <a:t>SWIN Transformers leverage self-attention mechanisms to model long-range dependencies in the image.</a:t>
            </a:r>
            <a:endParaRPr lang="en-US" sz="1750" dirty="0"/>
          </a:p>
        </p:txBody>
      </p:sp>
      <p:pic>
        <p:nvPicPr>
          <p:cNvPr id="11" name="Image 0" descr="preencoded.png">
            <a:hlinkClick r:id="rId3"/>
          </p:cNvPr>
          <p:cNvPicPr>
            <a:picLocks noChangeAspect="1"/>
          </p:cNvPicPr>
          <p:nvPr/>
        </p:nvPicPr>
        <p:blipFill>
          <a:blip r:embed="rId4"/>
          <a:stretch>
            <a:fillRect/>
          </a:stretch>
        </p:blipFill>
        <p:spPr>
          <a:xfrm>
            <a:off x="12242153" y="7589520"/>
            <a:ext cx="2296807" cy="5486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
        <p:nvSpPr>
          <p:cNvPr id="4" name="Text 2"/>
          <p:cNvSpPr/>
          <p:nvPr/>
        </p:nvSpPr>
        <p:spPr>
          <a:xfrm>
            <a:off x="2037993" y="1593294"/>
            <a:ext cx="10554414" cy="1388745"/>
          </a:xfrm>
          <a:prstGeom prst="rect">
            <a:avLst/>
          </a:prstGeom>
          <a:noFill/>
          <a:ln/>
        </p:spPr>
        <p:txBody>
          <a:bodyPr wrap="square" rtlCol="0" anchor="t"/>
          <a:lstStyle/>
          <a:p>
            <a:pPr marL="0" indent="0">
              <a:lnSpc>
                <a:spcPts val="5468"/>
              </a:lnSpc>
              <a:buNone/>
            </a:pPr>
            <a:r>
              <a:rPr lang="en-US" sz="4374" b="1" dirty="0">
                <a:solidFill>
                  <a:srgbClr val="EDEDE8"/>
                </a:solidFill>
                <a:latin typeface="Tomorrow" pitchFamily="34" charset="0"/>
                <a:ea typeface="Tomorrow" pitchFamily="34" charset="-122"/>
                <a:cs typeface="Tomorrow" pitchFamily="34" charset="-120"/>
              </a:rPr>
              <a:t>Advantages of SWIN Transformers over CNNs</a:t>
            </a:r>
            <a:endParaRPr lang="en-US" sz="4374" dirty="0"/>
          </a:p>
        </p:txBody>
      </p:sp>
      <p:sp>
        <p:nvSpPr>
          <p:cNvPr id="5" name="Shape 3"/>
          <p:cNvSpPr/>
          <p:nvPr/>
        </p:nvSpPr>
        <p:spPr>
          <a:xfrm>
            <a:off x="2037993" y="3599974"/>
            <a:ext cx="499943" cy="499943"/>
          </a:xfrm>
          <a:prstGeom prst="roundRect">
            <a:avLst>
              <a:gd name="adj" fmla="val 26667"/>
            </a:avLst>
          </a:prstGeom>
          <a:solidFill>
            <a:srgbClr val="0B0B0A"/>
          </a:solidFill>
          <a:ln/>
        </p:spPr>
      </p:sp>
      <p:sp>
        <p:nvSpPr>
          <p:cNvPr id="6" name="Text 4"/>
          <p:cNvSpPr/>
          <p:nvPr/>
        </p:nvSpPr>
        <p:spPr>
          <a:xfrm>
            <a:off x="2212062" y="3641646"/>
            <a:ext cx="151686" cy="416481"/>
          </a:xfrm>
          <a:prstGeom prst="rect">
            <a:avLst/>
          </a:prstGeom>
          <a:noFill/>
          <a:ln/>
        </p:spPr>
        <p:txBody>
          <a:bodyPr wrap="none" rtlCol="0" anchor="t"/>
          <a:lstStyle/>
          <a:p>
            <a:pPr marL="0" indent="0" algn="ctr">
              <a:lnSpc>
                <a:spcPts val="3281"/>
              </a:lnSpc>
              <a:buNone/>
            </a:pPr>
            <a:r>
              <a:rPr lang="en-US" sz="2624" b="1" dirty="0">
                <a:solidFill>
                  <a:srgbClr val="EDEDE8"/>
                </a:solidFill>
                <a:latin typeface="Tomorrow" pitchFamily="34" charset="0"/>
                <a:ea typeface="Tomorrow" pitchFamily="34" charset="-122"/>
                <a:cs typeface="Tomorrow" pitchFamily="34" charset="-120"/>
              </a:rPr>
              <a:t>1</a:t>
            </a:r>
            <a:endParaRPr lang="en-US" sz="2624" dirty="0"/>
          </a:p>
        </p:txBody>
      </p:sp>
      <p:sp>
        <p:nvSpPr>
          <p:cNvPr id="7" name="Text 5"/>
          <p:cNvSpPr/>
          <p:nvPr/>
        </p:nvSpPr>
        <p:spPr>
          <a:xfrm>
            <a:off x="2760107" y="3676293"/>
            <a:ext cx="2647950" cy="694373"/>
          </a:xfrm>
          <a:prstGeom prst="rect">
            <a:avLst/>
          </a:prstGeom>
          <a:noFill/>
          <a:ln/>
        </p:spPr>
        <p:txBody>
          <a:bodyPr wrap="square" rtlCol="0" anchor="t"/>
          <a:lstStyle/>
          <a:p>
            <a:pPr marL="0" indent="0">
              <a:lnSpc>
                <a:spcPts val="2734"/>
              </a:lnSpc>
              <a:buNone/>
            </a:pPr>
            <a:r>
              <a:rPr lang="en-US" sz="2187" b="1" dirty="0">
                <a:solidFill>
                  <a:srgbClr val="EDEDE8"/>
                </a:solidFill>
                <a:latin typeface="Tomorrow" pitchFamily="34" charset="0"/>
                <a:ea typeface="Tomorrow" pitchFamily="34" charset="-122"/>
                <a:cs typeface="Tomorrow" pitchFamily="34" charset="-120"/>
              </a:rPr>
              <a:t>Improved Accuracy</a:t>
            </a:r>
            <a:endParaRPr lang="en-US" sz="2187" dirty="0"/>
          </a:p>
        </p:txBody>
      </p:sp>
      <p:sp>
        <p:nvSpPr>
          <p:cNvPr id="8" name="Text 6"/>
          <p:cNvSpPr/>
          <p:nvPr/>
        </p:nvSpPr>
        <p:spPr>
          <a:xfrm>
            <a:off x="2760107" y="4503896"/>
            <a:ext cx="2647950" cy="2132409"/>
          </a:xfrm>
          <a:prstGeom prst="rect">
            <a:avLst/>
          </a:prstGeom>
          <a:noFill/>
          <a:ln/>
        </p:spPr>
        <p:txBody>
          <a:bodyPr wrap="square" rtlCol="0" anchor="t"/>
          <a:lstStyle/>
          <a:p>
            <a:pPr marL="0" indent="0">
              <a:lnSpc>
                <a:spcPts val="2799"/>
              </a:lnSpc>
              <a:buNone/>
            </a:pPr>
            <a:r>
              <a:rPr lang="en-US" sz="1750" dirty="0">
                <a:solidFill>
                  <a:srgbClr val="C9C9C0"/>
                </a:solidFill>
                <a:latin typeface="Tomorrow" pitchFamily="34" charset="0"/>
                <a:ea typeface="Tomorrow" pitchFamily="34" charset="-122"/>
                <a:cs typeface="Tomorrow" pitchFamily="34" charset="-120"/>
              </a:rPr>
              <a:t>SWIN Transformers demonstrate state-of-the-art performance on various image recognition benchmarks.</a:t>
            </a:r>
            <a:endParaRPr lang="en-US" sz="1750" dirty="0"/>
          </a:p>
        </p:txBody>
      </p:sp>
      <p:sp>
        <p:nvSpPr>
          <p:cNvPr id="9" name="Shape 7"/>
          <p:cNvSpPr/>
          <p:nvPr/>
        </p:nvSpPr>
        <p:spPr>
          <a:xfrm>
            <a:off x="5630228" y="3599974"/>
            <a:ext cx="499943" cy="499943"/>
          </a:xfrm>
          <a:prstGeom prst="roundRect">
            <a:avLst>
              <a:gd name="adj" fmla="val 26667"/>
            </a:avLst>
          </a:prstGeom>
          <a:solidFill>
            <a:srgbClr val="0B0B0A"/>
          </a:solidFill>
          <a:ln/>
        </p:spPr>
      </p:sp>
      <p:sp>
        <p:nvSpPr>
          <p:cNvPr id="10" name="Text 8"/>
          <p:cNvSpPr/>
          <p:nvPr/>
        </p:nvSpPr>
        <p:spPr>
          <a:xfrm>
            <a:off x="5768221" y="3641646"/>
            <a:ext cx="223957" cy="416481"/>
          </a:xfrm>
          <a:prstGeom prst="rect">
            <a:avLst/>
          </a:prstGeom>
          <a:noFill/>
          <a:ln/>
        </p:spPr>
        <p:txBody>
          <a:bodyPr wrap="none" rtlCol="0" anchor="t"/>
          <a:lstStyle/>
          <a:p>
            <a:pPr marL="0" indent="0" algn="ctr">
              <a:lnSpc>
                <a:spcPts val="3281"/>
              </a:lnSpc>
              <a:buNone/>
            </a:pPr>
            <a:r>
              <a:rPr lang="en-US" sz="2624" b="1" dirty="0">
                <a:solidFill>
                  <a:srgbClr val="EDEDE8"/>
                </a:solidFill>
                <a:latin typeface="Tomorrow" pitchFamily="34" charset="0"/>
                <a:ea typeface="Tomorrow" pitchFamily="34" charset="-122"/>
                <a:cs typeface="Tomorrow" pitchFamily="34" charset="-120"/>
              </a:rPr>
              <a:t>2</a:t>
            </a:r>
            <a:endParaRPr lang="en-US" sz="2624" dirty="0"/>
          </a:p>
        </p:txBody>
      </p:sp>
      <p:sp>
        <p:nvSpPr>
          <p:cNvPr id="11" name="Text 9"/>
          <p:cNvSpPr/>
          <p:nvPr/>
        </p:nvSpPr>
        <p:spPr>
          <a:xfrm>
            <a:off x="6352342" y="3676293"/>
            <a:ext cx="2647950" cy="694373"/>
          </a:xfrm>
          <a:prstGeom prst="rect">
            <a:avLst/>
          </a:prstGeom>
          <a:noFill/>
          <a:ln/>
        </p:spPr>
        <p:txBody>
          <a:bodyPr wrap="square" rtlCol="0" anchor="t"/>
          <a:lstStyle/>
          <a:p>
            <a:pPr marL="0" indent="0">
              <a:lnSpc>
                <a:spcPts val="2734"/>
              </a:lnSpc>
              <a:buNone/>
            </a:pPr>
            <a:r>
              <a:rPr lang="en-US" sz="2187" b="1" dirty="0">
                <a:solidFill>
                  <a:srgbClr val="EDEDE8"/>
                </a:solidFill>
                <a:latin typeface="Tomorrow" pitchFamily="34" charset="0"/>
                <a:ea typeface="Tomorrow" pitchFamily="34" charset="-122"/>
                <a:cs typeface="Tomorrow" pitchFamily="34" charset="-120"/>
              </a:rPr>
              <a:t>Efficient Computation</a:t>
            </a:r>
            <a:endParaRPr lang="en-US" sz="2187" dirty="0"/>
          </a:p>
        </p:txBody>
      </p:sp>
      <p:sp>
        <p:nvSpPr>
          <p:cNvPr id="12" name="Text 10"/>
          <p:cNvSpPr/>
          <p:nvPr/>
        </p:nvSpPr>
        <p:spPr>
          <a:xfrm>
            <a:off x="6352342" y="4503896"/>
            <a:ext cx="2647950" cy="2132409"/>
          </a:xfrm>
          <a:prstGeom prst="rect">
            <a:avLst/>
          </a:prstGeom>
          <a:noFill/>
          <a:ln/>
        </p:spPr>
        <p:txBody>
          <a:bodyPr wrap="square" rtlCol="0" anchor="t"/>
          <a:lstStyle/>
          <a:p>
            <a:pPr marL="0" indent="0">
              <a:lnSpc>
                <a:spcPts val="2799"/>
              </a:lnSpc>
              <a:buNone/>
            </a:pPr>
            <a:r>
              <a:rPr lang="en-US" sz="1750" dirty="0">
                <a:solidFill>
                  <a:srgbClr val="C9C9C0"/>
                </a:solidFill>
                <a:latin typeface="Tomorrow" pitchFamily="34" charset="0"/>
                <a:ea typeface="Tomorrow" pitchFamily="34" charset="-122"/>
                <a:cs typeface="Tomorrow" pitchFamily="34" charset="-120"/>
              </a:rPr>
              <a:t>The hierarchical design and shifted window approach make SWIN Transformers computationally efficient compared to CNNs.</a:t>
            </a:r>
            <a:endParaRPr lang="en-US" sz="1750" dirty="0"/>
          </a:p>
        </p:txBody>
      </p:sp>
      <p:sp>
        <p:nvSpPr>
          <p:cNvPr id="13" name="Shape 11"/>
          <p:cNvSpPr/>
          <p:nvPr/>
        </p:nvSpPr>
        <p:spPr>
          <a:xfrm>
            <a:off x="9222462" y="3599974"/>
            <a:ext cx="499943" cy="499943"/>
          </a:xfrm>
          <a:prstGeom prst="roundRect">
            <a:avLst>
              <a:gd name="adj" fmla="val 26667"/>
            </a:avLst>
          </a:prstGeom>
          <a:solidFill>
            <a:srgbClr val="0B0B0A"/>
          </a:solidFill>
          <a:ln/>
        </p:spPr>
      </p:sp>
      <p:sp>
        <p:nvSpPr>
          <p:cNvPr id="14" name="Text 12"/>
          <p:cNvSpPr/>
          <p:nvPr/>
        </p:nvSpPr>
        <p:spPr>
          <a:xfrm>
            <a:off x="9361051" y="3641646"/>
            <a:ext cx="222647" cy="416481"/>
          </a:xfrm>
          <a:prstGeom prst="rect">
            <a:avLst/>
          </a:prstGeom>
          <a:noFill/>
          <a:ln/>
        </p:spPr>
        <p:txBody>
          <a:bodyPr wrap="none" rtlCol="0" anchor="t"/>
          <a:lstStyle/>
          <a:p>
            <a:pPr marL="0" indent="0" algn="ctr">
              <a:lnSpc>
                <a:spcPts val="3281"/>
              </a:lnSpc>
              <a:buNone/>
            </a:pPr>
            <a:r>
              <a:rPr lang="en-US" sz="2624" b="1" dirty="0">
                <a:solidFill>
                  <a:srgbClr val="EDEDE8"/>
                </a:solidFill>
                <a:latin typeface="Tomorrow" pitchFamily="34" charset="0"/>
                <a:ea typeface="Tomorrow" pitchFamily="34" charset="-122"/>
                <a:cs typeface="Tomorrow" pitchFamily="34" charset="-120"/>
              </a:rPr>
              <a:t>3</a:t>
            </a:r>
            <a:endParaRPr lang="en-US" sz="2624" dirty="0"/>
          </a:p>
        </p:txBody>
      </p:sp>
      <p:sp>
        <p:nvSpPr>
          <p:cNvPr id="15" name="Text 13"/>
          <p:cNvSpPr/>
          <p:nvPr/>
        </p:nvSpPr>
        <p:spPr>
          <a:xfrm>
            <a:off x="9944576" y="3676293"/>
            <a:ext cx="2647950" cy="347186"/>
          </a:xfrm>
          <a:prstGeom prst="rect">
            <a:avLst/>
          </a:prstGeom>
          <a:noFill/>
          <a:ln/>
        </p:spPr>
        <p:txBody>
          <a:bodyPr wrap="none" rtlCol="0" anchor="t"/>
          <a:lstStyle/>
          <a:p>
            <a:pPr marL="0" indent="0">
              <a:lnSpc>
                <a:spcPts val="2734"/>
              </a:lnSpc>
              <a:buNone/>
            </a:pPr>
            <a:r>
              <a:rPr lang="en-US" sz="2187" b="1" dirty="0">
                <a:solidFill>
                  <a:srgbClr val="EDEDE8"/>
                </a:solidFill>
                <a:latin typeface="Tomorrow" pitchFamily="34" charset="0"/>
                <a:ea typeface="Tomorrow" pitchFamily="34" charset="-122"/>
                <a:cs typeface="Tomorrow" pitchFamily="34" charset="-120"/>
              </a:rPr>
              <a:t>Flexibility</a:t>
            </a:r>
            <a:endParaRPr lang="en-US" sz="2187" dirty="0"/>
          </a:p>
        </p:txBody>
      </p:sp>
      <p:sp>
        <p:nvSpPr>
          <p:cNvPr id="16" name="Text 14"/>
          <p:cNvSpPr/>
          <p:nvPr/>
        </p:nvSpPr>
        <p:spPr>
          <a:xfrm>
            <a:off x="9944576" y="4156710"/>
            <a:ext cx="2647950" cy="2132409"/>
          </a:xfrm>
          <a:prstGeom prst="rect">
            <a:avLst/>
          </a:prstGeom>
          <a:noFill/>
          <a:ln/>
        </p:spPr>
        <p:txBody>
          <a:bodyPr wrap="square" rtlCol="0" anchor="t"/>
          <a:lstStyle/>
          <a:p>
            <a:pPr marL="0" indent="0">
              <a:lnSpc>
                <a:spcPts val="2799"/>
              </a:lnSpc>
              <a:buNone/>
            </a:pPr>
            <a:r>
              <a:rPr lang="en-US" sz="1750" dirty="0">
                <a:solidFill>
                  <a:srgbClr val="C9C9C0"/>
                </a:solidFill>
                <a:latin typeface="Tomorrow" pitchFamily="34" charset="0"/>
                <a:ea typeface="Tomorrow" pitchFamily="34" charset="-122"/>
                <a:cs typeface="Tomorrow" pitchFamily="34" charset="-120"/>
              </a:rPr>
              <a:t>SWIN Transformers can be easily adapted to different image sizes and resolutions, making them versatile for various applications.</a:t>
            </a:r>
            <a:endParaRPr lang="en-US" sz="1750" dirty="0"/>
          </a:p>
        </p:txBody>
      </p:sp>
      <p:pic>
        <p:nvPicPr>
          <p:cNvPr id="17" name="Image 0" descr="preencoded.png">
            <a:hlinkClick r:id="rId3"/>
          </p:cNvPr>
          <p:cNvPicPr>
            <a:picLocks noChangeAspect="1"/>
          </p:cNvPicPr>
          <p:nvPr/>
        </p:nvPicPr>
        <p:blipFill>
          <a:blip r:embed="rId4"/>
          <a:stretch>
            <a:fillRect/>
          </a:stretch>
        </p:blipFill>
        <p:spPr>
          <a:xfrm>
            <a:off x="12242153" y="7589520"/>
            <a:ext cx="2296807" cy="5486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
        <p:nvSpPr>
          <p:cNvPr id="4" name="Text 2"/>
          <p:cNvSpPr/>
          <p:nvPr/>
        </p:nvSpPr>
        <p:spPr>
          <a:xfrm>
            <a:off x="2037993" y="734497"/>
            <a:ext cx="10554414" cy="1388745"/>
          </a:xfrm>
          <a:prstGeom prst="rect">
            <a:avLst/>
          </a:prstGeom>
          <a:noFill/>
          <a:ln/>
        </p:spPr>
        <p:txBody>
          <a:bodyPr wrap="square" rtlCol="0" anchor="t"/>
          <a:lstStyle/>
          <a:p>
            <a:pPr marL="0" indent="0">
              <a:lnSpc>
                <a:spcPts val="5468"/>
              </a:lnSpc>
              <a:buNone/>
            </a:pPr>
            <a:r>
              <a:rPr lang="en-US" sz="4374" b="1" dirty="0">
                <a:solidFill>
                  <a:srgbClr val="EDEDE8"/>
                </a:solidFill>
                <a:latin typeface="Tomorrow" pitchFamily="34" charset="0"/>
                <a:ea typeface="Tomorrow" pitchFamily="34" charset="-122"/>
                <a:cs typeface="Tomorrow" pitchFamily="34" charset="-120"/>
              </a:rPr>
              <a:t>Applications of SWIN Transformers in Image Reconstruction</a:t>
            </a:r>
            <a:endParaRPr lang="en-US" sz="4374" dirty="0"/>
          </a:p>
        </p:txBody>
      </p:sp>
      <p:pic>
        <p:nvPicPr>
          <p:cNvPr id="5" name="Image 0" descr="preencoded.png"/>
          <p:cNvPicPr>
            <a:picLocks noChangeAspect="1"/>
          </p:cNvPicPr>
          <p:nvPr/>
        </p:nvPicPr>
        <p:blipFill>
          <a:blip r:embed="rId3"/>
          <a:stretch>
            <a:fillRect/>
          </a:stretch>
        </p:blipFill>
        <p:spPr>
          <a:xfrm>
            <a:off x="2037993" y="2567583"/>
            <a:ext cx="3295888" cy="2036921"/>
          </a:xfrm>
          <a:prstGeom prst="rect">
            <a:avLst/>
          </a:prstGeom>
        </p:spPr>
      </p:pic>
      <p:sp>
        <p:nvSpPr>
          <p:cNvPr id="6" name="Text 3"/>
          <p:cNvSpPr/>
          <p:nvPr/>
        </p:nvSpPr>
        <p:spPr>
          <a:xfrm>
            <a:off x="2037993" y="4882158"/>
            <a:ext cx="2777490" cy="347186"/>
          </a:xfrm>
          <a:prstGeom prst="rect">
            <a:avLst/>
          </a:prstGeom>
          <a:noFill/>
          <a:ln/>
        </p:spPr>
        <p:txBody>
          <a:bodyPr wrap="none" rtlCol="0" anchor="t"/>
          <a:lstStyle/>
          <a:p>
            <a:pPr marL="0" indent="0" algn="l">
              <a:lnSpc>
                <a:spcPts val="2734"/>
              </a:lnSpc>
              <a:buNone/>
            </a:pPr>
            <a:r>
              <a:rPr lang="en-US" sz="2187" b="1" dirty="0">
                <a:solidFill>
                  <a:srgbClr val="EDEDE8"/>
                </a:solidFill>
                <a:latin typeface="Tomorrow" pitchFamily="34" charset="0"/>
                <a:ea typeface="Tomorrow" pitchFamily="34" charset="-122"/>
                <a:cs typeface="Tomorrow" pitchFamily="34" charset="-120"/>
              </a:rPr>
              <a:t>Super-Resolution</a:t>
            </a:r>
            <a:endParaRPr lang="en-US" sz="2187" dirty="0"/>
          </a:p>
        </p:txBody>
      </p:sp>
      <p:sp>
        <p:nvSpPr>
          <p:cNvPr id="7" name="Text 4"/>
          <p:cNvSpPr/>
          <p:nvPr/>
        </p:nvSpPr>
        <p:spPr>
          <a:xfrm>
            <a:off x="2037993" y="5362575"/>
            <a:ext cx="3295888" cy="1421606"/>
          </a:xfrm>
          <a:prstGeom prst="rect">
            <a:avLst/>
          </a:prstGeom>
          <a:noFill/>
          <a:ln/>
        </p:spPr>
        <p:txBody>
          <a:bodyPr wrap="square" rtlCol="0" anchor="t"/>
          <a:lstStyle/>
          <a:p>
            <a:pPr marL="0" indent="0" algn="l">
              <a:lnSpc>
                <a:spcPts val="2799"/>
              </a:lnSpc>
              <a:buNone/>
            </a:pPr>
            <a:r>
              <a:rPr lang="en-US" sz="1750" dirty="0">
                <a:solidFill>
                  <a:srgbClr val="C9C9C0"/>
                </a:solidFill>
                <a:latin typeface="Tomorrow" pitchFamily="34" charset="0"/>
                <a:ea typeface="Tomorrow" pitchFamily="34" charset="-122"/>
                <a:cs typeface="Tomorrow" pitchFamily="34" charset="-120"/>
              </a:rPr>
              <a:t>SWIN Transformers excel at upscaling low-resolution images to high-quality, high-resolution outputs.</a:t>
            </a:r>
            <a:endParaRPr lang="en-US" sz="1750" dirty="0"/>
          </a:p>
        </p:txBody>
      </p:sp>
      <p:pic>
        <p:nvPicPr>
          <p:cNvPr id="8" name="Image 1" descr="preencoded.png"/>
          <p:cNvPicPr>
            <a:picLocks noChangeAspect="1"/>
          </p:cNvPicPr>
          <p:nvPr/>
        </p:nvPicPr>
        <p:blipFill>
          <a:blip r:embed="rId4"/>
          <a:stretch>
            <a:fillRect/>
          </a:stretch>
        </p:blipFill>
        <p:spPr>
          <a:xfrm>
            <a:off x="5667137" y="2567583"/>
            <a:ext cx="3296007" cy="2037040"/>
          </a:xfrm>
          <a:prstGeom prst="rect">
            <a:avLst/>
          </a:prstGeom>
        </p:spPr>
      </p:pic>
      <p:sp>
        <p:nvSpPr>
          <p:cNvPr id="9" name="Text 5"/>
          <p:cNvSpPr/>
          <p:nvPr/>
        </p:nvSpPr>
        <p:spPr>
          <a:xfrm>
            <a:off x="5667137" y="4882277"/>
            <a:ext cx="3296007" cy="694373"/>
          </a:xfrm>
          <a:prstGeom prst="rect">
            <a:avLst/>
          </a:prstGeom>
          <a:noFill/>
          <a:ln/>
        </p:spPr>
        <p:txBody>
          <a:bodyPr wrap="square" rtlCol="0" anchor="t"/>
          <a:lstStyle/>
          <a:p>
            <a:pPr marL="0" indent="0" algn="l">
              <a:lnSpc>
                <a:spcPts val="2734"/>
              </a:lnSpc>
              <a:buNone/>
            </a:pPr>
            <a:r>
              <a:rPr lang="en-US" sz="2187" b="1" dirty="0">
                <a:solidFill>
                  <a:srgbClr val="EDEDE8"/>
                </a:solidFill>
                <a:latin typeface="Tomorrow" pitchFamily="34" charset="0"/>
                <a:ea typeface="Tomorrow" pitchFamily="34" charset="-122"/>
                <a:cs typeface="Tomorrow" pitchFamily="34" charset="-120"/>
              </a:rPr>
              <a:t>Semantic Segmentation</a:t>
            </a:r>
            <a:endParaRPr lang="en-US" sz="2187" dirty="0"/>
          </a:p>
        </p:txBody>
      </p:sp>
      <p:sp>
        <p:nvSpPr>
          <p:cNvPr id="10" name="Text 6"/>
          <p:cNvSpPr/>
          <p:nvPr/>
        </p:nvSpPr>
        <p:spPr>
          <a:xfrm>
            <a:off x="5667137" y="5709880"/>
            <a:ext cx="3296007" cy="1777008"/>
          </a:xfrm>
          <a:prstGeom prst="rect">
            <a:avLst/>
          </a:prstGeom>
          <a:noFill/>
          <a:ln/>
        </p:spPr>
        <p:txBody>
          <a:bodyPr wrap="square" rtlCol="0" anchor="t"/>
          <a:lstStyle/>
          <a:p>
            <a:pPr marL="0" indent="0" algn="l">
              <a:lnSpc>
                <a:spcPts val="2799"/>
              </a:lnSpc>
              <a:buNone/>
            </a:pPr>
            <a:r>
              <a:rPr lang="en-US" sz="1750" dirty="0">
                <a:solidFill>
                  <a:srgbClr val="C9C9C0"/>
                </a:solidFill>
                <a:latin typeface="Tomorrow" pitchFamily="34" charset="0"/>
                <a:ea typeface="Tomorrow" pitchFamily="34" charset="-122"/>
                <a:cs typeface="Tomorrow" pitchFamily="34" charset="-120"/>
              </a:rPr>
              <a:t>SWIN Transformers can accurately segment images into semantically meaningful regions, enabling advanced computer vision tasks.</a:t>
            </a:r>
            <a:endParaRPr lang="en-US" sz="1750" dirty="0"/>
          </a:p>
        </p:txBody>
      </p:sp>
      <p:pic>
        <p:nvPicPr>
          <p:cNvPr id="11" name="Image 2" descr="preencoded.png"/>
          <p:cNvPicPr>
            <a:picLocks noChangeAspect="1"/>
          </p:cNvPicPr>
          <p:nvPr/>
        </p:nvPicPr>
        <p:blipFill>
          <a:blip r:embed="rId5"/>
          <a:stretch>
            <a:fillRect/>
          </a:stretch>
        </p:blipFill>
        <p:spPr>
          <a:xfrm>
            <a:off x="9296400" y="2567583"/>
            <a:ext cx="3296007" cy="2037040"/>
          </a:xfrm>
          <a:prstGeom prst="rect">
            <a:avLst/>
          </a:prstGeom>
        </p:spPr>
      </p:pic>
      <p:sp>
        <p:nvSpPr>
          <p:cNvPr id="12" name="Text 7"/>
          <p:cNvSpPr/>
          <p:nvPr/>
        </p:nvSpPr>
        <p:spPr>
          <a:xfrm>
            <a:off x="9296400" y="4882277"/>
            <a:ext cx="2777490" cy="347186"/>
          </a:xfrm>
          <a:prstGeom prst="rect">
            <a:avLst/>
          </a:prstGeom>
          <a:noFill/>
          <a:ln/>
        </p:spPr>
        <p:txBody>
          <a:bodyPr wrap="none" rtlCol="0" anchor="t"/>
          <a:lstStyle/>
          <a:p>
            <a:pPr marL="0" indent="0" algn="l">
              <a:lnSpc>
                <a:spcPts val="2734"/>
              </a:lnSpc>
              <a:buNone/>
            </a:pPr>
            <a:r>
              <a:rPr lang="en-US" sz="2187" b="1" dirty="0">
                <a:solidFill>
                  <a:srgbClr val="EDEDE8"/>
                </a:solidFill>
                <a:latin typeface="Tomorrow" pitchFamily="34" charset="0"/>
                <a:ea typeface="Tomorrow" pitchFamily="34" charset="-122"/>
                <a:cs typeface="Tomorrow" pitchFamily="34" charset="-120"/>
              </a:rPr>
              <a:t>Depth Estimation</a:t>
            </a:r>
            <a:endParaRPr lang="en-US" sz="2187" dirty="0"/>
          </a:p>
        </p:txBody>
      </p:sp>
      <p:sp>
        <p:nvSpPr>
          <p:cNvPr id="13" name="Text 8"/>
          <p:cNvSpPr/>
          <p:nvPr/>
        </p:nvSpPr>
        <p:spPr>
          <a:xfrm>
            <a:off x="9296400" y="5362694"/>
            <a:ext cx="3296007" cy="2132409"/>
          </a:xfrm>
          <a:prstGeom prst="rect">
            <a:avLst/>
          </a:prstGeom>
          <a:noFill/>
          <a:ln/>
        </p:spPr>
        <p:txBody>
          <a:bodyPr wrap="square" rtlCol="0" anchor="t"/>
          <a:lstStyle/>
          <a:p>
            <a:pPr marL="0" indent="0" algn="l">
              <a:lnSpc>
                <a:spcPts val="2799"/>
              </a:lnSpc>
              <a:buNone/>
            </a:pPr>
            <a:r>
              <a:rPr lang="en-US" sz="1750" dirty="0">
                <a:solidFill>
                  <a:srgbClr val="C9C9C0"/>
                </a:solidFill>
                <a:latin typeface="Tomorrow" pitchFamily="34" charset="0"/>
                <a:ea typeface="Tomorrow" pitchFamily="34" charset="-122"/>
                <a:cs typeface="Tomorrow" pitchFamily="34" charset="-120"/>
              </a:rPr>
              <a:t>SWIN Transformers can estimate the depth information of an image, enabling 3D reconstruction and augmented reality applications.</a:t>
            </a:r>
            <a:endParaRPr lang="en-US" sz="1750" dirty="0"/>
          </a:p>
        </p:txBody>
      </p:sp>
      <p:pic>
        <p:nvPicPr>
          <p:cNvPr id="14" name="Image 3" descr="preencoded.png">
            <a:hlinkClick r:id="rId6"/>
          </p:cNvPr>
          <p:cNvPicPr>
            <a:picLocks noChangeAspect="1"/>
          </p:cNvPicPr>
          <p:nvPr/>
        </p:nvPicPr>
        <p:blipFill>
          <a:blip r:embed="rId7"/>
          <a:stretch>
            <a:fillRect/>
          </a:stretch>
        </p:blipFill>
        <p:spPr>
          <a:xfrm>
            <a:off x="12242153" y="7589520"/>
            <a:ext cx="2296807" cy="5486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p:cNvPicPr>
            <a:picLocks noChangeAspect="1"/>
          </p:cNvPicPr>
          <p:nvPr/>
        </p:nvPicPr>
        <p:blipFill>
          <a:blip r:embed="rId3"/>
          <a:stretch>
            <a:fillRect/>
          </a:stretch>
        </p:blipFill>
        <p:spPr>
          <a:xfrm>
            <a:off x="-7620" y="0"/>
            <a:ext cx="3657600" cy="8229600"/>
          </a:xfrm>
          <a:prstGeom prst="rect">
            <a:avLst/>
          </a:prstGeom>
        </p:spPr>
      </p:pic>
      <p:sp>
        <p:nvSpPr>
          <p:cNvPr id="5" name="Text 2"/>
          <p:cNvSpPr/>
          <p:nvPr/>
        </p:nvSpPr>
        <p:spPr>
          <a:xfrm>
            <a:off x="4490799" y="1151692"/>
            <a:ext cx="9306401" cy="1388745"/>
          </a:xfrm>
          <a:prstGeom prst="rect">
            <a:avLst/>
          </a:prstGeom>
          <a:noFill/>
          <a:ln/>
        </p:spPr>
        <p:txBody>
          <a:bodyPr wrap="square" rtlCol="0" anchor="t"/>
          <a:lstStyle/>
          <a:p>
            <a:pPr marL="0" indent="0">
              <a:lnSpc>
                <a:spcPts val="5468"/>
              </a:lnSpc>
              <a:buNone/>
            </a:pPr>
            <a:r>
              <a:rPr lang="en-US" sz="4374" b="1" dirty="0">
                <a:solidFill>
                  <a:srgbClr val="EDEDE8"/>
                </a:solidFill>
                <a:latin typeface="Tomorrow" pitchFamily="34" charset="0"/>
                <a:ea typeface="Tomorrow" pitchFamily="34" charset="-122"/>
                <a:cs typeface="Tomorrow" pitchFamily="34" charset="-120"/>
              </a:rPr>
              <a:t>Deconvolutions: Concept and Importance</a:t>
            </a:r>
            <a:endParaRPr lang="en-US" sz="4374" dirty="0"/>
          </a:p>
        </p:txBody>
      </p:sp>
      <p:sp>
        <p:nvSpPr>
          <p:cNvPr id="6" name="Shape 3"/>
          <p:cNvSpPr/>
          <p:nvPr/>
        </p:nvSpPr>
        <p:spPr>
          <a:xfrm>
            <a:off x="4490799" y="2873693"/>
            <a:ext cx="4542115" cy="2346365"/>
          </a:xfrm>
          <a:prstGeom prst="roundRect">
            <a:avLst>
              <a:gd name="adj" fmla="val 5682"/>
            </a:avLst>
          </a:prstGeom>
          <a:solidFill>
            <a:srgbClr val="0B0B0A"/>
          </a:solidFill>
          <a:ln/>
        </p:spPr>
      </p:sp>
      <p:sp>
        <p:nvSpPr>
          <p:cNvPr id="7" name="Text 4"/>
          <p:cNvSpPr/>
          <p:nvPr/>
        </p:nvSpPr>
        <p:spPr>
          <a:xfrm>
            <a:off x="4712970" y="3095863"/>
            <a:ext cx="2777490" cy="347186"/>
          </a:xfrm>
          <a:prstGeom prst="rect">
            <a:avLst/>
          </a:prstGeom>
          <a:noFill/>
          <a:ln/>
        </p:spPr>
        <p:txBody>
          <a:bodyPr wrap="none" rtlCol="0" anchor="t"/>
          <a:lstStyle/>
          <a:p>
            <a:pPr marL="0" indent="0">
              <a:lnSpc>
                <a:spcPts val="2734"/>
              </a:lnSpc>
              <a:buNone/>
            </a:pPr>
            <a:r>
              <a:rPr lang="en-US" sz="2187" b="1" dirty="0">
                <a:solidFill>
                  <a:srgbClr val="EDEDE8"/>
                </a:solidFill>
                <a:latin typeface="Tomorrow" pitchFamily="34" charset="0"/>
                <a:ea typeface="Tomorrow" pitchFamily="34" charset="-122"/>
                <a:cs typeface="Tomorrow" pitchFamily="34" charset="-120"/>
              </a:rPr>
              <a:t>Upsampling</a:t>
            </a:r>
            <a:endParaRPr lang="en-US" sz="2187" dirty="0"/>
          </a:p>
        </p:txBody>
      </p:sp>
      <p:sp>
        <p:nvSpPr>
          <p:cNvPr id="8" name="Text 5"/>
          <p:cNvSpPr/>
          <p:nvPr/>
        </p:nvSpPr>
        <p:spPr>
          <a:xfrm>
            <a:off x="4712970" y="3576280"/>
            <a:ext cx="4097774" cy="1421606"/>
          </a:xfrm>
          <a:prstGeom prst="rect">
            <a:avLst/>
          </a:prstGeom>
          <a:noFill/>
          <a:ln/>
        </p:spPr>
        <p:txBody>
          <a:bodyPr wrap="square" rtlCol="0" anchor="t"/>
          <a:lstStyle/>
          <a:p>
            <a:pPr marL="0" indent="0">
              <a:lnSpc>
                <a:spcPts val="2799"/>
              </a:lnSpc>
              <a:buNone/>
            </a:pPr>
            <a:r>
              <a:rPr lang="en-US" sz="1750" dirty="0">
                <a:solidFill>
                  <a:srgbClr val="C9C9C0"/>
                </a:solidFill>
                <a:latin typeface="Tomorrow" pitchFamily="34" charset="0"/>
                <a:ea typeface="Tomorrow" pitchFamily="34" charset="-122"/>
                <a:cs typeface="Tomorrow" pitchFamily="34" charset="-120"/>
              </a:rPr>
              <a:t>Deconvolutions are a type of upsampling operation that can increase the spatial resolution of feature maps in neural networks.</a:t>
            </a:r>
            <a:endParaRPr lang="en-US" sz="1750" dirty="0"/>
          </a:p>
        </p:txBody>
      </p:sp>
      <p:sp>
        <p:nvSpPr>
          <p:cNvPr id="9" name="Shape 6"/>
          <p:cNvSpPr/>
          <p:nvPr/>
        </p:nvSpPr>
        <p:spPr>
          <a:xfrm>
            <a:off x="9255085" y="2873693"/>
            <a:ext cx="4542115" cy="2346365"/>
          </a:xfrm>
          <a:prstGeom prst="roundRect">
            <a:avLst>
              <a:gd name="adj" fmla="val 5682"/>
            </a:avLst>
          </a:prstGeom>
          <a:solidFill>
            <a:srgbClr val="0B0B0A"/>
          </a:solidFill>
          <a:ln/>
        </p:spPr>
      </p:sp>
      <p:sp>
        <p:nvSpPr>
          <p:cNvPr id="10" name="Text 7"/>
          <p:cNvSpPr/>
          <p:nvPr/>
        </p:nvSpPr>
        <p:spPr>
          <a:xfrm>
            <a:off x="9477256" y="3095863"/>
            <a:ext cx="3187541" cy="347186"/>
          </a:xfrm>
          <a:prstGeom prst="rect">
            <a:avLst/>
          </a:prstGeom>
          <a:noFill/>
          <a:ln/>
        </p:spPr>
        <p:txBody>
          <a:bodyPr wrap="none" rtlCol="0" anchor="t"/>
          <a:lstStyle/>
          <a:p>
            <a:pPr marL="0" indent="0">
              <a:lnSpc>
                <a:spcPts val="2734"/>
              </a:lnSpc>
              <a:buNone/>
            </a:pPr>
            <a:r>
              <a:rPr lang="en-US" sz="2187" b="1" dirty="0">
                <a:solidFill>
                  <a:srgbClr val="EDEDE8"/>
                </a:solidFill>
                <a:latin typeface="Tomorrow" pitchFamily="34" charset="0"/>
                <a:ea typeface="Tomorrow" pitchFamily="34" charset="-122"/>
                <a:cs typeface="Tomorrow" pitchFamily="34" charset="-120"/>
              </a:rPr>
              <a:t>Inverse of Convolution</a:t>
            </a:r>
            <a:endParaRPr lang="en-US" sz="2187" dirty="0"/>
          </a:p>
        </p:txBody>
      </p:sp>
      <p:sp>
        <p:nvSpPr>
          <p:cNvPr id="11" name="Text 8"/>
          <p:cNvSpPr/>
          <p:nvPr/>
        </p:nvSpPr>
        <p:spPr>
          <a:xfrm>
            <a:off x="9477256" y="3576280"/>
            <a:ext cx="4097774" cy="1421606"/>
          </a:xfrm>
          <a:prstGeom prst="rect">
            <a:avLst/>
          </a:prstGeom>
          <a:noFill/>
          <a:ln/>
        </p:spPr>
        <p:txBody>
          <a:bodyPr wrap="square" rtlCol="0" anchor="t"/>
          <a:lstStyle/>
          <a:p>
            <a:pPr marL="0" indent="0">
              <a:lnSpc>
                <a:spcPts val="2799"/>
              </a:lnSpc>
              <a:buNone/>
            </a:pPr>
            <a:r>
              <a:rPr lang="en-US" sz="1750" dirty="0">
                <a:solidFill>
                  <a:srgbClr val="C9C9C0"/>
                </a:solidFill>
                <a:latin typeface="Tomorrow" pitchFamily="34" charset="0"/>
                <a:ea typeface="Tomorrow" pitchFamily="34" charset="-122"/>
                <a:cs typeface="Tomorrow" pitchFamily="34" charset="-120"/>
              </a:rPr>
              <a:t>Deconvolutions are the inverse of convolution operations, allowing for the reconstruction of input-like representations from feature maps.</a:t>
            </a:r>
            <a:endParaRPr lang="en-US" sz="1750" dirty="0"/>
          </a:p>
        </p:txBody>
      </p:sp>
      <p:sp>
        <p:nvSpPr>
          <p:cNvPr id="12" name="Shape 9"/>
          <p:cNvSpPr/>
          <p:nvPr/>
        </p:nvSpPr>
        <p:spPr>
          <a:xfrm>
            <a:off x="4490799" y="5442228"/>
            <a:ext cx="9306401" cy="1635562"/>
          </a:xfrm>
          <a:prstGeom prst="roundRect">
            <a:avLst>
              <a:gd name="adj" fmla="val 8151"/>
            </a:avLst>
          </a:prstGeom>
          <a:solidFill>
            <a:srgbClr val="0B0B0A"/>
          </a:solidFill>
          <a:ln/>
        </p:spPr>
      </p:sp>
      <p:sp>
        <p:nvSpPr>
          <p:cNvPr id="13" name="Text 10"/>
          <p:cNvSpPr/>
          <p:nvPr/>
        </p:nvSpPr>
        <p:spPr>
          <a:xfrm>
            <a:off x="4712970" y="5664398"/>
            <a:ext cx="3153608" cy="347186"/>
          </a:xfrm>
          <a:prstGeom prst="rect">
            <a:avLst/>
          </a:prstGeom>
          <a:noFill/>
          <a:ln/>
        </p:spPr>
        <p:txBody>
          <a:bodyPr wrap="none" rtlCol="0" anchor="t"/>
          <a:lstStyle/>
          <a:p>
            <a:pPr marL="0" indent="0">
              <a:lnSpc>
                <a:spcPts val="2734"/>
              </a:lnSpc>
              <a:buNone/>
            </a:pPr>
            <a:r>
              <a:rPr lang="en-US" sz="2187" b="1" dirty="0">
                <a:solidFill>
                  <a:srgbClr val="EDEDE8"/>
                </a:solidFill>
                <a:latin typeface="Tomorrow" pitchFamily="34" charset="0"/>
                <a:ea typeface="Tomorrow" pitchFamily="34" charset="-122"/>
                <a:cs typeface="Tomorrow" pitchFamily="34" charset="-120"/>
              </a:rPr>
              <a:t>Image Reconstruction</a:t>
            </a:r>
            <a:endParaRPr lang="en-US" sz="2187" dirty="0"/>
          </a:p>
        </p:txBody>
      </p:sp>
      <p:sp>
        <p:nvSpPr>
          <p:cNvPr id="14" name="Text 11"/>
          <p:cNvSpPr/>
          <p:nvPr/>
        </p:nvSpPr>
        <p:spPr>
          <a:xfrm>
            <a:off x="4712970" y="6144816"/>
            <a:ext cx="8862060" cy="710803"/>
          </a:xfrm>
          <a:prstGeom prst="rect">
            <a:avLst/>
          </a:prstGeom>
          <a:noFill/>
          <a:ln/>
        </p:spPr>
        <p:txBody>
          <a:bodyPr wrap="square" rtlCol="0" anchor="t"/>
          <a:lstStyle/>
          <a:p>
            <a:pPr marL="0" indent="0">
              <a:lnSpc>
                <a:spcPts val="2799"/>
              </a:lnSpc>
              <a:buNone/>
            </a:pPr>
            <a:r>
              <a:rPr lang="en-US" sz="1750" dirty="0">
                <a:solidFill>
                  <a:srgbClr val="C9C9C0"/>
                </a:solidFill>
                <a:latin typeface="Tomorrow" pitchFamily="34" charset="0"/>
                <a:ea typeface="Tomorrow" pitchFamily="34" charset="-122"/>
                <a:cs typeface="Tomorrow" pitchFamily="34" charset="-120"/>
              </a:rPr>
              <a:t>Deconvolutions play a crucial role in image reconstruction tasks, such as super-resolution, segmentation, and depth estimation.</a:t>
            </a:r>
            <a:endParaRPr lang="en-US" sz="1750" dirty="0"/>
          </a:p>
        </p:txBody>
      </p:sp>
      <p:pic>
        <p:nvPicPr>
          <p:cNvPr id="15" name="Image 1" descr="preencoded.png">
            <a:hlinkClick r:id="rId4"/>
          </p:cNvPr>
          <p:cNvPicPr>
            <a:picLocks noChangeAspect="1"/>
          </p:cNvPicPr>
          <p:nvPr/>
        </p:nvPicPr>
        <p:blipFill>
          <a:blip r:embed="rId5"/>
          <a:stretch>
            <a:fillRect/>
          </a:stretch>
        </p:blipFill>
        <p:spPr>
          <a:xfrm>
            <a:off x="12242153" y="7589520"/>
            <a:ext cx="2296807" cy="548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p:cNvPicPr>
            <a:picLocks noChangeAspect="1"/>
          </p:cNvPicPr>
          <p:nvPr/>
        </p:nvPicPr>
        <p:blipFill>
          <a:blip r:embed="rId3"/>
          <a:stretch>
            <a:fillRect/>
          </a:stretch>
        </p:blipFill>
        <p:spPr>
          <a:xfrm>
            <a:off x="10980420" y="0"/>
            <a:ext cx="3657600" cy="8229600"/>
          </a:xfrm>
          <a:prstGeom prst="rect">
            <a:avLst/>
          </a:prstGeom>
        </p:spPr>
      </p:pic>
      <p:sp>
        <p:nvSpPr>
          <p:cNvPr id="5" name="Text 2"/>
          <p:cNvSpPr/>
          <p:nvPr/>
        </p:nvSpPr>
        <p:spPr>
          <a:xfrm>
            <a:off x="826294" y="607576"/>
            <a:ext cx="9320213" cy="1377077"/>
          </a:xfrm>
          <a:prstGeom prst="rect">
            <a:avLst/>
          </a:prstGeom>
          <a:noFill/>
          <a:ln/>
        </p:spPr>
        <p:txBody>
          <a:bodyPr wrap="square" rtlCol="0" anchor="t"/>
          <a:lstStyle/>
          <a:p>
            <a:pPr marL="0" indent="0">
              <a:lnSpc>
                <a:spcPts val="5422"/>
              </a:lnSpc>
              <a:buNone/>
            </a:pPr>
            <a:r>
              <a:rPr lang="en-US" sz="4338" b="1" dirty="0">
                <a:solidFill>
                  <a:srgbClr val="EDEDE8"/>
                </a:solidFill>
                <a:latin typeface="Tomorrow" pitchFamily="34" charset="0"/>
                <a:ea typeface="Tomorrow" pitchFamily="34" charset="-122"/>
                <a:cs typeface="Tomorrow" pitchFamily="34" charset="-120"/>
              </a:rPr>
              <a:t>Deconvolution Techniques for Image Reconstruction</a:t>
            </a:r>
            <a:endParaRPr lang="en-US" sz="4338" dirty="0"/>
          </a:p>
        </p:txBody>
      </p:sp>
      <p:sp>
        <p:nvSpPr>
          <p:cNvPr id="6" name="Shape 3"/>
          <p:cNvSpPr/>
          <p:nvPr/>
        </p:nvSpPr>
        <p:spPr>
          <a:xfrm>
            <a:off x="1134785" y="2315170"/>
            <a:ext cx="44053" cy="5306854"/>
          </a:xfrm>
          <a:prstGeom prst="rect">
            <a:avLst/>
          </a:prstGeom>
          <a:solidFill>
            <a:srgbClr val="5B5B57"/>
          </a:solidFill>
          <a:ln/>
        </p:spPr>
      </p:sp>
      <p:sp>
        <p:nvSpPr>
          <p:cNvPr id="7" name="Shape 4"/>
          <p:cNvSpPr/>
          <p:nvPr/>
        </p:nvSpPr>
        <p:spPr>
          <a:xfrm>
            <a:off x="1404699" y="2713077"/>
            <a:ext cx="771168" cy="44053"/>
          </a:xfrm>
          <a:prstGeom prst="rect">
            <a:avLst/>
          </a:prstGeom>
          <a:solidFill>
            <a:srgbClr val="5B5B57"/>
          </a:solidFill>
          <a:ln/>
        </p:spPr>
      </p:sp>
      <p:sp>
        <p:nvSpPr>
          <p:cNvPr id="8" name="Shape 5"/>
          <p:cNvSpPr/>
          <p:nvPr/>
        </p:nvSpPr>
        <p:spPr>
          <a:xfrm>
            <a:off x="908923" y="2487335"/>
            <a:ext cx="495776" cy="495776"/>
          </a:xfrm>
          <a:prstGeom prst="roundRect">
            <a:avLst>
              <a:gd name="adj" fmla="val 26669"/>
            </a:avLst>
          </a:prstGeom>
          <a:solidFill>
            <a:srgbClr val="0B0B0A"/>
          </a:solidFill>
          <a:ln/>
        </p:spPr>
      </p:sp>
      <p:sp>
        <p:nvSpPr>
          <p:cNvPr id="9" name="Text 6"/>
          <p:cNvSpPr/>
          <p:nvPr/>
        </p:nvSpPr>
        <p:spPr>
          <a:xfrm>
            <a:off x="1081564" y="2528649"/>
            <a:ext cx="150376" cy="413147"/>
          </a:xfrm>
          <a:prstGeom prst="rect">
            <a:avLst/>
          </a:prstGeom>
          <a:noFill/>
          <a:ln/>
        </p:spPr>
        <p:txBody>
          <a:bodyPr wrap="none" rtlCol="0" anchor="t"/>
          <a:lstStyle/>
          <a:p>
            <a:pPr marL="0" indent="0" algn="ctr">
              <a:lnSpc>
                <a:spcPts val="3253"/>
              </a:lnSpc>
              <a:buNone/>
            </a:pPr>
            <a:r>
              <a:rPr lang="en-US" sz="2603" b="1" dirty="0">
                <a:solidFill>
                  <a:srgbClr val="EDEDE8"/>
                </a:solidFill>
                <a:latin typeface="Tomorrow" pitchFamily="34" charset="0"/>
                <a:ea typeface="Tomorrow" pitchFamily="34" charset="-122"/>
                <a:cs typeface="Tomorrow" pitchFamily="34" charset="-120"/>
              </a:rPr>
              <a:t>1</a:t>
            </a:r>
            <a:endParaRPr lang="en-US" sz="2603" dirty="0"/>
          </a:p>
        </p:txBody>
      </p:sp>
      <p:sp>
        <p:nvSpPr>
          <p:cNvPr id="10" name="Text 7"/>
          <p:cNvSpPr/>
          <p:nvPr/>
        </p:nvSpPr>
        <p:spPr>
          <a:xfrm>
            <a:off x="2368748" y="2535436"/>
            <a:ext cx="3375422" cy="344329"/>
          </a:xfrm>
          <a:prstGeom prst="rect">
            <a:avLst/>
          </a:prstGeom>
          <a:noFill/>
          <a:ln/>
        </p:spPr>
        <p:txBody>
          <a:bodyPr wrap="none" rtlCol="0" anchor="t"/>
          <a:lstStyle/>
          <a:p>
            <a:pPr marL="0" indent="0" algn="l">
              <a:lnSpc>
                <a:spcPts val="2711"/>
              </a:lnSpc>
              <a:buNone/>
            </a:pPr>
            <a:r>
              <a:rPr lang="en-US" sz="2169" b="1" dirty="0">
                <a:solidFill>
                  <a:srgbClr val="EDEDE8"/>
                </a:solidFill>
                <a:latin typeface="Tomorrow" pitchFamily="34" charset="0"/>
                <a:ea typeface="Tomorrow" pitchFamily="34" charset="-122"/>
                <a:cs typeface="Tomorrow" pitchFamily="34" charset="-120"/>
              </a:rPr>
              <a:t>Transposed Convolution</a:t>
            </a:r>
            <a:endParaRPr lang="en-US" sz="2169" dirty="0"/>
          </a:p>
        </p:txBody>
      </p:sp>
      <p:sp>
        <p:nvSpPr>
          <p:cNvPr id="11" name="Text 8"/>
          <p:cNvSpPr/>
          <p:nvPr/>
        </p:nvSpPr>
        <p:spPr>
          <a:xfrm>
            <a:off x="2368748" y="3011924"/>
            <a:ext cx="7777758" cy="705088"/>
          </a:xfrm>
          <a:prstGeom prst="rect">
            <a:avLst/>
          </a:prstGeom>
          <a:noFill/>
          <a:ln/>
        </p:spPr>
        <p:txBody>
          <a:bodyPr wrap="square" rtlCol="0" anchor="t"/>
          <a:lstStyle/>
          <a:p>
            <a:pPr marL="0" indent="0" algn="l">
              <a:lnSpc>
                <a:spcPts val="2776"/>
              </a:lnSpc>
              <a:buNone/>
            </a:pPr>
            <a:r>
              <a:rPr lang="en-US" sz="1735" dirty="0">
                <a:solidFill>
                  <a:srgbClr val="C9C9C0"/>
                </a:solidFill>
                <a:latin typeface="Tomorrow" pitchFamily="34" charset="0"/>
                <a:ea typeface="Tomorrow" pitchFamily="34" charset="-122"/>
                <a:cs typeface="Tomorrow" pitchFamily="34" charset="-120"/>
              </a:rPr>
              <a:t>This is the most common deconvolution technique, which performs a learnable upsampling operation.</a:t>
            </a:r>
            <a:endParaRPr lang="en-US" sz="1735" dirty="0"/>
          </a:p>
        </p:txBody>
      </p:sp>
      <p:sp>
        <p:nvSpPr>
          <p:cNvPr id="12" name="Shape 9"/>
          <p:cNvSpPr/>
          <p:nvPr/>
        </p:nvSpPr>
        <p:spPr>
          <a:xfrm>
            <a:off x="1404699" y="4555450"/>
            <a:ext cx="771168" cy="44053"/>
          </a:xfrm>
          <a:prstGeom prst="rect">
            <a:avLst/>
          </a:prstGeom>
          <a:solidFill>
            <a:srgbClr val="5B5B57"/>
          </a:solidFill>
          <a:ln/>
        </p:spPr>
      </p:sp>
      <p:sp>
        <p:nvSpPr>
          <p:cNvPr id="13" name="Shape 10"/>
          <p:cNvSpPr/>
          <p:nvPr/>
        </p:nvSpPr>
        <p:spPr>
          <a:xfrm>
            <a:off x="908923" y="4329708"/>
            <a:ext cx="495776" cy="495776"/>
          </a:xfrm>
          <a:prstGeom prst="roundRect">
            <a:avLst>
              <a:gd name="adj" fmla="val 26669"/>
            </a:avLst>
          </a:prstGeom>
          <a:solidFill>
            <a:srgbClr val="0B0B0A"/>
          </a:solidFill>
          <a:ln/>
        </p:spPr>
      </p:sp>
      <p:sp>
        <p:nvSpPr>
          <p:cNvPr id="14" name="Text 11"/>
          <p:cNvSpPr/>
          <p:nvPr/>
        </p:nvSpPr>
        <p:spPr>
          <a:xfrm>
            <a:off x="1045726" y="4371023"/>
            <a:ext cx="222052" cy="413147"/>
          </a:xfrm>
          <a:prstGeom prst="rect">
            <a:avLst/>
          </a:prstGeom>
          <a:noFill/>
          <a:ln/>
        </p:spPr>
        <p:txBody>
          <a:bodyPr wrap="none" rtlCol="0" anchor="t"/>
          <a:lstStyle/>
          <a:p>
            <a:pPr marL="0" indent="0" algn="ctr">
              <a:lnSpc>
                <a:spcPts val="3253"/>
              </a:lnSpc>
              <a:buNone/>
            </a:pPr>
            <a:r>
              <a:rPr lang="en-US" sz="2603" b="1" dirty="0">
                <a:solidFill>
                  <a:srgbClr val="EDEDE8"/>
                </a:solidFill>
                <a:latin typeface="Tomorrow" pitchFamily="34" charset="0"/>
                <a:ea typeface="Tomorrow" pitchFamily="34" charset="-122"/>
                <a:cs typeface="Tomorrow" pitchFamily="34" charset="-120"/>
              </a:rPr>
              <a:t>2</a:t>
            </a:r>
            <a:endParaRPr lang="en-US" sz="2603" dirty="0"/>
          </a:p>
        </p:txBody>
      </p:sp>
      <p:sp>
        <p:nvSpPr>
          <p:cNvPr id="15" name="Text 12"/>
          <p:cNvSpPr/>
          <p:nvPr/>
        </p:nvSpPr>
        <p:spPr>
          <a:xfrm>
            <a:off x="2368748" y="4377809"/>
            <a:ext cx="3188851" cy="344329"/>
          </a:xfrm>
          <a:prstGeom prst="rect">
            <a:avLst/>
          </a:prstGeom>
          <a:noFill/>
          <a:ln/>
        </p:spPr>
        <p:txBody>
          <a:bodyPr wrap="none" rtlCol="0" anchor="t"/>
          <a:lstStyle/>
          <a:p>
            <a:pPr marL="0" indent="0" algn="l">
              <a:lnSpc>
                <a:spcPts val="2711"/>
              </a:lnSpc>
              <a:buNone/>
            </a:pPr>
            <a:r>
              <a:rPr lang="en-US" sz="2169" b="1" dirty="0">
                <a:solidFill>
                  <a:srgbClr val="EDEDE8"/>
                </a:solidFill>
                <a:latin typeface="Tomorrow" pitchFamily="34" charset="0"/>
                <a:ea typeface="Tomorrow" pitchFamily="34" charset="-122"/>
                <a:cs typeface="Tomorrow" pitchFamily="34" charset="-120"/>
              </a:rPr>
              <a:t>Resizing + Convolution</a:t>
            </a:r>
            <a:endParaRPr lang="en-US" sz="2169" dirty="0"/>
          </a:p>
        </p:txBody>
      </p:sp>
      <p:sp>
        <p:nvSpPr>
          <p:cNvPr id="16" name="Text 13"/>
          <p:cNvSpPr/>
          <p:nvPr/>
        </p:nvSpPr>
        <p:spPr>
          <a:xfrm>
            <a:off x="2368748" y="4854297"/>
            <a:ext cx="7777758" cy="705088"/>
          </a:xfrm>
          <a:prstGeom prst="rect">
            <a:avLst/>
          </a:prstGeom>
          <a:noFill/>
          <a:ln/>
        </p:spPr>
        <p:txBody>
          <a:bodyPr wrap="square" rtlCol="0" anchor="t"/>
          <a:lstStyle/>
          <a:p>
            <a:pPr marL="0" indent="0" algn="l">
              <a:lnSpc>
                <a:spcPts val="2776"/>
              </a:lnSpc>
              <a:buNone/>
            </a:pPr>
            <a:r>
              <a:rPr lang="en-US" sz="1735" dirty="0">
                <a:solidFill>
                  <a:srgbClr val="C9C9C0"/>
                </a:solidFill>
                <a:latin typeface="Tomorrow" pitchFamily="34" charset="0"/>
                <a:ea typeface="Tomorrow" pitchFamily="34" charset="-122"/>
                <a:cs typeface="Tomorrow" pitchFamily="34" charset="-120"/>
              </a:rPr>
              <a:t>This approach first upsamples the feature maps using a resize operation, followed by a convolution layer.</a:t>
            </a:r>
            <a:endParaRPr lang="en-US" sz="1735" dirty="0"/>
          </a:p>
        </p:txBody>
      </p:sp>
      <p:sp>
        <p:nvSpPr>
          <p:cNvPr id="17" name="Shape 14"/>
          <p:cNvSpPr/>
          <p:nvPr/>
        </p:nvSpPr>
        <p:spPr>
          <a:xfrm>
            <a:off x="1404699" y="6397823"/>
            <a:ext cx="771168" cy="44053"/>
          </a:xfrm>
          <a:prstGeom prst="rect">
            <a:avLst/>
          </a:prstGeom>
          <a:solidFill>
            <a:srgbClr val="5B5B57"/>
          </a:solidFill>
          <a:ln/>
        </p:spPr>
      </p:sp>
      <p:sp>
        <p:nvSpPr>
          <p:cNvPr id="18" name="Shape 15"/>
          <p:cNvSpPr/>
          <p:nvPr/>
        </p:nvSpPr>
        <p:spPr>
          <a:xfrm>
            <a:off x="908923" y="6172081"/>
            <a:ext cx="495776" cy="495776"/>
          </a:xfrm>
          <a:prstGeom prst="roundRect">
            <a:avLst>
              <a:gd name="adj" fmla="val 26669"/>
            </a:avLst>
          </a:prstGeom>
          <a:solidFill>
            <a:srgbClr val="0B0B0A"/>
          </a:solidFill>
          <a:ln/>
        </p:spPr>
      </p:sp>
      <p:sp>
        <p:nvSpPr>
          <p:cNvPr id="19" name="Text 16"/>
          <p:cNvSpPr/>
          <p:nvPr/>
        </p:nvSpPr>
        <p:spPr>
          <a:xfrm>
            <a:off x="1046440" y="6213396"/>
            <a:ext cx="220742" cy="413147"/>
          </a:xfrm>
          <a:prstGeom prst="rect">
            <a:avLst/>
          </a:prstGeom>
          <a:noFill/>
          <a:ln/>
        </p:spPr>
        <p:txBody>
          <a:bodyPr wrap="none" rtlCol="0" anchor="t"/>
          <a:lstStyle/>
          <a:p>
            <a:pPr marL="0" indent="0" algn="ctr">
              <a:lnSpc>
                <a:spcPts val="3253"/>
              </a:lnSpc>
              <a:buNone/>
            </a:pPr>
            <a:r>
              <a:rPr lang="en-US" sz="2603" b="1" dirty="0">
                <a:solidFill>
                  <a:srgbClr val="EDEDE8"/>
                </a:solidFill>
                <a:latin typeface="Tomorrow" pitchFamily="34" charset="0"/>
                <a:ea typeface="Tomorrow" pitchFamily="34" charset="-122"/>
                <a:cs typeface="Tomorrow" pitchFamily="34" charset="-120"/>
              </a:rPr>
              <a:t>3</a:t>
            </a:r>
            <a:endParaRPr lang="en-US" sz="2603" dirty="0"/>
          </a:p>
        </p:txBody>
      </p:sp>
      <p:sp>
        <p:nvSpPr>
          <p:cNvPr id="20" name="Text 17"/>
          <p:cNvSpPr/>
          <p:nvPr/>
        </p:nvSpPr>
        <p:spPr>
          <a:xfrm>
            <a:off x="2368748" y="6220182"/>
            <a:ext cx="2979896" cy="344329"/>
          </a:xfrm>
          <a:prstGeom prst="rect">
            <a:avLst/>
          </a:prstGeom>
          <a:noFill/>
          <a:ln/>
        </p:spPr>
        <p:txBody>
          <a:bodyPr wrap="none" rtlCol="0" anchor="t"/>
          <a:lstStyle/>
          <a:p>
            <a:pPr marL="0" indent="0" algn="l">
              <a:lnSpc>
                <a:spcPts val="2711"/>
              </a:lnSpc>
              <a:buNone/>
            </a:pPr>
            <a:r>
              <a:rPr lang="en-US" sz="2169" b="1" dirty="0">
                <a:solidFill>
                  <a:srgbClr val="EDEDE8"/>
                </a:solidFill>
                <a:latin typeface="Tomorrow" pitchFamily="34" charset="0"/>
                <a:ea typeface="Tomorrow" pitchFamily="34" charset="-122"/>
                <a:cs typeface="Tomorrow" pitchFamily="34" charset="-120"/>
              </a:rPr>
              <a:t>Subpixel Convolution</a:t>
            </a:r>
            <a:endParaRPr lang="en-US" sz="2169" dirty="0"/>
          </a:p>
        </p:txBody>
      </p:sp>
      <p:sp>
        <p:nvSpPr>
          <p:cNvPr id="21" name="Text 18"/>
          <p:cNvSpPr/>
          <p:nvPr/>
        </p:nvSpPr>
        <p:spPr>
          <a:xfrm>
            <a:off x="2368748" y="6696670"/>
            <a:ext cx="7777758" cy="705088"/>
          </a:xfrm>
          <a:prstGeom prst="rect">
            <a:avLst/>
          </a:prstGeom>
          <a:noFill/>
          <a:ln/>
        </p:spPr>
        <p:txBody>
          <a:bodyPr wrap="square" rtlCol="0" anchor="t"/>
          <a:lstStyle/>
          <a:p>
            <a:pPr marL="0" indent="0" algn="l">
              <a:lnSpc>
                <a:spcPts val="2776"/>
              </a:lnSpc>
              <a:buNone/>
            </a:pPr>
            <a:r>
              <a:rPr lang="en-US" sz="1735" dirty="0">
                <a:solidFill>
                  <a:srgbClr val="C9C9C0"/>
                </a:solidFill>
                <a:latin typeface="Tomorrow" pitchFamily="34" charset="0"/>
                <a:ea typeface="Tomorrow" pitchFamily="34" charset="-122"/>
                <a:cs typeface="Tomorrow" pitchFamily="34" charset="-120"/>
              </a:rPr>
              <a:t>This technique rearranges the output channels of a convolution layer to create an upsampled feature map.</a:t>
            </a:r>
            <a:endParaRPr lang="en-US" sz="1735" dirty="0"/>
          </a:p>
        </p:txBody>
      </p:sp>
      <p:pic>
        <p:nvPicPr>
          <p:cNvPr id="22" name="Image 1" descr="preencoded.png">
            <a:hlinkClick r:id="rId4"/>
          </p:cNvPr>
          <p:cNvPicPr>
            <a:picLocks noChangeAspect="1"/>
          </p:cNvPicPr>
          <p:nvPr/>
        </p:nvPicPr>
        <p:blipFill>
          <a:blip r:embed="rId5"/>
          <a:stretch>
            <a:fillRect/>
          </a:stretch>
        </p:blipFill>
        <p:spPr>
          <a:xfrm>
            <a:off x="12242153" y="7589520"/>
            <a:ext cx="2296807" cy="548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
        <p:nvSpPr>
          <p:cNvPr id="4" name="Text 2"/>
          <p:cNvSpPr/>
          <p:nvPr/>
        </p:nvSpPr>
        <p:spPr>
          <a:xfrm>
            <a:off x="2037993" y="1691878"/>
            <a:ext cx="10554414" cy="1388745"/>
          </a:xfrm>
          <a:prstGeom prst="rect">
            <a:avLst/>
          </a:prstGeom>
          <a:noFill/>
          <a:ln/>
        </p:spPr>
        <p:txBody>
          <a:bodyPr wrap="square" rtlCol="0" anchor="t"/>
          <a:lstStyle/>
          <a:p>
            <a:pPr marL="0" indent="0">
              <a:lnSpc>
                <a:spcPts val="5468"/>
              </a:lnSpc>
              <a:buNone/>
            </a:pPr>
            <a:r>
              <a:rPr lang="en-US" sz="4374" b="1" dirty="0">
                <a:solidFill>
                  <a:srgbClr val="EDEDE8"/>
                </a:solidFill>
                <a:latin typeface="Tomorrow" pitchFamily="34" charset="0"/>
                <a:ea typeface="Tomorrow" pitchFamily="34" charset="-122"/>
                <a:cs typeface="Tomorrow" pitchFamily="34" charset="-120"/>
              </a:rPr>
              <a:t>Comparison of SWIN Transformers and Deconvolution Methods</a:t>
            </a:r>
            <a:endParaRPr lang="en-US" sz="4374" dirty="0"/>
          </a:p>
        </p:txBody>
      </p:sp>
      <p:sp>
        <p:nvSpPr>
          <p:cNvPr id="5" name="Text 3"/>
          <p:cNvSpPr/>
          <p:nvPr/>
        </p:nvSpPr>
        <p:spPr>
          <a:xfrm>
            <a:off x="2037993" y="3636050"/>
            <a:ext cx="2777490" cy="347186"/>
          </a:xfrm>
          <a:prstGeom prst="rect">
            <a:avLst/>
          </a:prstGeom>
          <a:noFill/>
          <a:ln/>
        </p:spPr>
        <p:txBody>
          <a:bodyPr wrap="none" rtlCol="0" anchor="t"/>
          <a:lstStyle/>
          <a:p>
            <a:pPr marL="0" indent="0">
              <a:lnSpc>
                <a:spcPts val="2734"/>
              </a:lnSpc>
              <a:buNone/>
            </a:pPr>
            <a:r>
              <a:rPr lang="en-US" sz="2187" b="1" dirty="0">
                <a:solidFill>
                  <a:srgbClr val="EDEDE8"/>
                </a:solidFill>
                <a:latin typeface="Tomorrow" pitchFamily="34" charset="0"/>
                <a:ea typeface="Tomorrow" pitchFamily="34" charset="-122"/>
                <a:cs typeface="Tomorrow" pitchFamily="34" charset="-120"/>
              </a:rPr>
              <a:t>SWIN Transformers</a:t>
            </a:r>
            <a:endParaRPr lang="en-US" sz="2187" dirty="0"/>
          </a:p>
        </p:txBody>
      </p:sp>
      <p:sp>
        <p:nvSpPr>
          <p:cNvPr id="6" name="Text 4"/>
          <p:cNvSpPr/>
          <p:nvPr/>
        </p:nvSpPr>
        <p:spPr>
          <a:xfrm>
            <a:off x="2037993" y="4205407"/>
            <a:ext cx="3156347" cy="1777008"/>
          </a:xfrm>
          <a:prstGeom prst="rect">
            <a:avLst/>
          </a:prstGeom>
          <a:noFill/>
          <a:ln/>
        </p:spPr>
        <p:txBody>
          <a:bodyPr wrap="square" rtlCol="0" anchor="t"/>
          <a:lstStyle/>
          <a:p>
            <a:pPr marL="0" indent="0">
              <a:lnSpc>
                <a:spcPts val="2799"/>
              </a:lnSpc>
              <a:buNone/>
            </a:pPr>
            <a:r>
              <a:rPr lang="en-US" sz="1750" dirty="0">
                <a:solidFill>
                  <a:srgbClr val="C9C9C0"/>
                </a:solidFill>
                <a:latin typeface="Tomorrow" pitchFamily="34" charset="0"/>
                <a:ea typeface="Tomorrow" pitchFamily="34" charset="-122"/>
                <a:cs typeface="Tomorrow" pitchFamily="34" charset="-120"/>
              </a:rPr>
              <a:t>Leverage self-attention mechanisms and a hierarchical design to capture both local and global image features.</a:t>
            </a:r>
            <a:endParaRPr lang="en-US" sz="1750" dirty="0"/>
          </a:p>
        </p:txBody>
      </p:sp>
      <p:sp>
        <p:nvSpPr>
          <p:cNvPr id="7" name="Text 5"/>
          <p:cNvSpPr/>
          <p:nvPr/>
        </p:nvSpPr>
        <p:spPr>
          <a:xfrm>
            <a:off x="5743932" y="3636050"/>
            <a:ext cx="3156347" cy="694373"/>
          </a:xfrm>
          <a:prstGeom prst="rect">
            <a:avLst/>
          </a:prstGeom>
          <a:noFill/>
          <a:ln/>
        </p:spPr>
        <p:txBody>
          <a:bodyPr wrap="square" rtlCol="0" anchor="t"/>
          <a:lstStyle/>
          <a:p>
            <a:pPr marL="0" indent="0">
              <a:lnSpc>
                <a:spcPts val="2734"/>
              </a:lnSpc>
              <a:buNone/>
            </a:pPr>
            <a:r>
              <a:rPr lang="en-US" sz="2187" b="1" dirty="0">
                <a:solidFill>
                  <a:srgbClr val="EDEDE8"/>
                </a:solidFill>
                <a:latin typeface="Tomorrow" pitchFamily="34" charset="0"/>
                <a:ea typeface="Tomorrow" pitchFamily="34" charset="-122"/>
                <a:cs typeface="Tomorrow" pitchFamily="34" charset="-120"/>
              </a:rPr>
              <a:t>Deconvolution Methods</a:t>
            </a:r>
            <a:endParaRPr lang="en-US" sz="2187" dirty="0"/>
          </a:p>
        </p:txBody>
      </p:sp>
      <p:sp>
        <p:nvSpPr>
          <p:cNvPr id="8" name="Text 6"/>
          <p:cNvSpPr/>
          <p:nvPr/>
        </p:nvSpPr>
        <p:spPr>
          <a:xfrm>
            <a:off x="5743932" y="4552593"/>
            <a:ext cx="3156347" cy="1421606"/>
          </a:xfrm>
          <a:prstGeom prst="rect">
            <a:avLst/>
          </a:prstGeom>
          <a:noFill/>
          <a:ln/>
        </p:spPr>
        <p:txBody>
          <a:bodyPr wrap="square" rtlCol="0" anchor="t"/>
          <a:lstStyle/>
          <a:p>
            <a:pPr marL="0" indent="0">
              <a:lnSpc>
                <a:spcPts val="2799"/>
              </a:lnSpc>
              <a:buNone/>
            </a:pPr>
            <a:r>
              <a:rPr lang="en-US" sz="1750" dirty="0">
                <a:solidFill>
                  <a:srgbClr val="C9C9C0"/>
                </a:solidFill>
                <a:latin typeface="Tomorrow" pitchFamily="34" charset="0"/>
                <a:ea typeface="Tomorrow" pitchFamily="34" charset="-122"/>
                <a:cs typeface="Tomorrow" pitchFamily="34" charset="-120"/>
              </a:rPr>
              <a:t>Perform upsampling and reconstruction of feature maps to restore high-resolution image details.</a:t>
            </a:r>
            <a:endParaRPr lang="en-US" sz="1750" dirty="0"/>
          </a:p>
        </p:txBody>
      </p:sp>
      <p:sp>
        <p:nvSpPr>
          <p:cNvPr id="9" name="Text 7"/>
          <p:cNvSpPr/>
          <p:nvPr/>
        </p:nvSpPr>
        <p:spPr>
          <a:xfrm>
            <a:off x="9449872" y="3636050"/>
            <a:ext cx="2777490" cy="347186"/>
          </a:xfrm>
          <a:prstGeom prst="rect">
            <a:avLst/>
          </a:prstGeom>
          <a:noFill/>
          <a:ln/>
        </p:spPr>
        <p:txBody>
          <a:bodyPr wrap="none" rtlCol="0" anchor="t"/>
          <a:lstStyle/>
          <a:p>
            <a:pPr marL="0" indent="0">
              <a:lnSpc>
                <a:spcPts val="2734"/>
              </a:lnSpc>
              <a:buNone/>
            </a:pPr>
            <a:r>
              <a:rPr lang="en-US" sz="2187" b="1" dirty="0">
                <a:solidFill>
                  <a:srgbClr val="EDEDE8"/>
                </a:solidFill>
                <a:latin typeface="Tomorrow" pitchFamily="34" charset="0"/>
                <a:ea typeface="Tomorrow" pitchFamily="34" charset="-122"/>
                <a:cs typeface="Tomorrow" pitchFamily="34" charset="-120"/>
              </a:rPr>
              <a:t>Synergy</a:t>
            </a:r>
            <a:endParaRPr lang="en-US" sz="2187" dirty="0"/>
          </a:p>
        </p:txBody>
      </p:sp>
      <p:sp>
        <p:nvSpPr>
          <p:cNvPr id="10" name="Text 8"/>
          <p:cNvSpPr/>
          <p:nvPr/>
        </p:nvSpPr>
        <p:spPr>
          <a:xfrm>
            <a:off x="9449872" y="4205407"/>
            <a:ext cx="3156347" cy="2132409"/>
          </a:xfrm>
          <a:prstGeom prst="rect">
            <a:avLst/>
          </a:prstGeom>
          <a:noFill/>
          <a:ln/>
        </p:spPr>
        <p:txBody>
          <a:bodyPr wrap="square" rtlCol="0" anchor="t"/>
          <a:lstStyle/>
          <a:p>
            <a:pPr marL="0" indent="0">
              <a:lnSpc>
                <a:spcPts val="2799"/>
              </a:lnSpc>
              <a:buNone/>
            </a:pPr>
            <a:r>
              <a:rPr lang="en-US" sz="1750" dirty="0">
                <a:solidFill>
                  <a:srgbClr val="C9C9C0"/>
                </a:solidFill>
                <a:latin typeface="Tomorrow" pitchFamily="34" charset="0"/>
                <a:ea typeface="Tomorrow" pitchFamily="34" charset="-122"/>
                <a:cs typeface="Tomorrow" pitchFamily="34" charset="-120"/>
              </a:rPr>
              <a:t>SWIN Transformers and deconvolution techniques can be combined to achieve state-of-the-art performance in image reconstruction tasks.</a:t>
            </a:r>
            <a:endParaRPr lang="en-US" sz="1750" dirty="0"/>
          </a:p>
        </p:txBody>
      </p:sp>
      <p:pic>
        <p:nvPicPr>
          <p:cNvPr id="11" name="Image 0" descr="preencoded.png">
            <a:hlinkClick r:id="rId3"/>
          </p:cNvPr>
          <p:cNvPicPr>
            <a:picLocks noChangeAspect="1"/>
          </p:cNvPicPr>
          <p:nvPr/>
        </p:nvPicPr>
        <p:blipFill>
          <a:blip r:embed="rId4"/>
          <a:stretch>
            <a:fillRect/>
          </a:stretch>
        </p:blipFill>
        <p:spPr>
          <a:xfrm>
            <a:off x="12242153" y="7589520"/>
            <a:ext cx="2296807" cy="548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
        <p:nvSpPr>
          <p:cNvPr id="4" name="Text 2"/>
          <p:cNvSpPr/>
          <p:nvPr/>
        </p:nvSpPr>
        <p:spPr>
          <a:xfrm>
            <a:off x="2037993" y="1672471"/>
            <a:ext cx="9339501" cy="694373"/>
          </a:xfrm>
          <a:prstGeom prst="rect">
            <a:avLst/>
          </a:prstGeom>
          <a:noFill/>
          <a:ln/>
        </p:spPr>
        <p:txBody>
          <a:bodyPr wrap="none" rtlCol="0" anchor="t"/>
          <a:lstStyle/>
          <a:p>
            <a:pPr marL="0" indent="0">
              <a:lnSpc>
                <a:spcPts val="5468"/>
              </a:lnSpc>
              <a:buNone/>
            </a:pPr>
            <a:r>
              <a:rPr lang="en-US" sz="4374" b="1" dirty="0">
                <a:solidFill>
                  <a:srgbClr val="EDEDE8"/>
                </a:solidFill>
                <a:latin typeface="Tomorrow" pitchFamily="34" charset="0"/>
                <a:ea typeface="Tomorrow" pitchFamily="34" charset="-122"/>
                <a:cs typeface="Tomorrow" pitchFamily="34" charset="-120"/>
              </a:rPr>
              <a:t>Pipeline of the Models used and tested</a:t>
            </a:r>
            <a:endParaRPr lang="en-US" sz="4374" dirty="0"/>
          </a:p>
        </p:txBody>
      </p:sp>
      <p:pic>
        <p:nvPicPr>
          <p:cNvPr id="14" name="Image 3" descr="preencoded.png">
            <a:hlinkClick r:id="rId3"/>
          </p:cNvPr>
          <p:cNvPicPr>
            <a:picLocks noChangeAspect="1"/>
          </p:cNvPicPr>
          <p:nvPr/>
        </p:nvPicPr>
        <p:blipFill>
          <a:blip r:embed="rId4"/>
          <a:stretch>
            <a:fillRect/>
          </a:stretch>
        </p:blipFill>
        <p:spPr>
          <a:xfrm>
            <a:off x="12242153" y="7589520"/>
            <a:ext cx="2296807" cy="548640"/>
          </a:xfrm>
          <a:prstGeom prst="rect">
            <a:avLst/>
          </a:prstGeom>
        </p:spPr>
      </p:pic>
      <p:pic>
        <p:nvPicPr>
          <p:cNvPr id="16" name="Picture 15">
            <a:extLst>
              <a:ext uri="{FF2B5EF4-FFF2-40B4-BE49-F238E27FC236}">
                <a16:creationId xmlns:a16="http://schemas.microsoft.com/office/drawing/2014/main" id="{CE1D1DE2-BDE2-052B-5550-069D4834FDA6}"/>
              </a:ext>
            </a:extLst>
          </p:cNvPr>
          <p:cNvPicPr>
            <a:picLocks noChangeAspect="1"/>
          </p:cNvPicPr>
          <p:nvPr/>
        </p:nvPicPr>
        <p:blipFill>
          <a:blip r:embed="rId5"/>
          <a:stretch>
            <a:fillRect/>
          </a:stretch>
        </p:blipFill>
        <p:spPr>
          <a:xfrm>
            <a:off x="392627" y="2798049"/>
            <a:ext cx="8099588" cy="3064708"/>
          </a:xfrm>
          <a:prstGeom prst="rect">
            <a:avLst/>
          </a:prstGeom>
        </p:spPr>
      </p:pic>
      <p:sp>
        <p:nvSpPr>
          <p:cNvPr id="17" name="TextBox 16">
            <a:extLst>
              <a:ext uri="{FF2B5EF4-FFF2-40B4-BE49-F238E27FC236}">
                <a16:creationId xmlns:a16="http://schemas.microsoft.com/office/drawing/2014/main" id="{FCDD14AD-62F5-B0DE-66A7-285F36A300EF}"/>
              </a:ext>
            </a:extLst>
          </p:cNvPr>
          <p:cNvSpPr txBox="1"/>
          <p:nvPr/>
        </p:nvSpPr>
        <p:spPr>
          <a:xfrm>
            <a:off x="8884842" y="2926081"/>
            <a:ext cx="5132372" cy="1477328"/>
          </a:xfrm>
          <a:prstGeom prst="rect">
            <a:avLst/>
          </a:prstGeom>
          <a:noFill/>
        </p:spPr>
        <p:txBody>
          <a:bodyPr wrap="square" rtlCol="0">
            <a:spAutoFit/>
          </a:bodyPr>
          <a:lstStyle/>
          <a:p>
            <a:r>
              <a:rPr lang="en-IN" dirty="0">
                <a:solidFill>
                  <a:schemeClr val="bg2"/>
                </a:solidFill>
              </a:rPr>
              <a:t>We have also used various loss functions such as SSIM loss along with Perceptual loss and L1, MSE losses. On pretrained models with fine tuning we were able to achieve till 0.3 loss and from scratch training we were able to achieve 1.03 loss. </a:t>
            </a:r>
            <a:endParaRPr lang="en-US" dirty="0">
              <a:solidFill>
                <a:schemeClr val="bg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7322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3900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50972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616</TotalTime>
  <Words>474</Words>
  <Application>Microsoft Office PowerPoint</Application>
  <PresentationFormat>Custom</PresentationFormat>
  <Paragraphs>60</Paragraphs>
  <Slides>11</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Tomorrow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sukhvansh jain</cp:lastModifiedBy>
  <cp:revision>5</cp:revision>
  <dcterms:created xsi:type="dcterms:W3CDTF">2024-05-04T17:56:52Z</dcterms:created>
  <dcterms:modified xsi:type="dcterms:W3CDTF">2024-05-06T18:29:49Z</dcterms:modified>
</cp:coreProperties>
</file>